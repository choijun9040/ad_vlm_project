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7" r:id="rId2"/>
    <p:sldId id="286" r:id="rId3"/>
    <p:sldId id="292" r:id="rId4"/>
    <p:sldId id="291" r:id="rId5"/>
    <p:sldId id="294" r:id="rId6"/>
    <p:sldId id="296" r:id="rId7"/>
    <p:sldId id="297" r:id="rId8"/>
    <p:sldId id="298" r:id="rId9"/>
    <p:sldId id="299" r:id="rId10"/>
    <p:sldId id="300" r:id="rId11"/>
    <p:sldId id="301" r:id="rId12"/>
    <p:sldId id="302" r:id="rId13"/>
    <p:sldId id="303" r:id="rId14"/>
    <p:sldId id="282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62552"/>
    <a:srgbClr val="B7B7B7"/>
    <a:srgbClr val="B6B6B6"/>
    <a:srgbClr val="B62652"/>
    <a:srgbClr val="6E0C0E"/>
    <a:srgbClr val="BA4B70"/>
    <a:srgbClr val="BC1D55"/>
    <a:srgbClr val="BB1B53"/>
    <a:srgbClr val="BFD5FA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80000" autoAdjust="0"/>
  </p:normalViewPr>
  <p:slideViewPr>
    <p:cSldViewPr snapToGrid="0">
      <p:cViewPr varScale="1">
        <p:scale>
          <a:sx n="52" d="100"/>
          <a:sy n="52" d="100"/>
        </p:scale>
        <p:origin x="84" y="836"/>
      </p:cViewPr>
      <p:guideLst/>
    </p:cSldViewPr>
  </p:slideViewPr>
  <p:outlineViewPr>
    <p:cViewPr>
      <p:scale>
        <a:sx n="33" d="100"/>
        <a:sy n="33" d="100"/>
      </p:scale>
      <p:origin x="0" y="-561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AB124D-6A59-4564-8991-54248F2E7EAE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2F3A45-EF24-4C78-8C33-4140B73B71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9542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2F3A45-EF24-4C78-8C33-4140B73B7147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85587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B0781-B0E3-FE85-99C2-8C1C735E4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0E2E9F9-B361-0B9C-1C04-3B9EB7AF13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528EC5B-E2D9-A4C4-01F7-5E571A83BB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2C875D-8822-3B10-6C82-52603FD786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2F3A45-EF24-4C78-8C33-4140B73B714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14758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3882D-BF22-E5F7-1F3E-E24B07808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5225877-D65E-E940-3FF8-82F2539424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EB79F6F-DE5B-3286-AF8B-7759E9252F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Student</a:t>
            </a:r>
            <a:r>
              <a:rPr lang="ko-KR" altLang="en-US" dirty="0"/>
              <a:t>의 추론 비용이 배포 시에도 늘지 않는 것이 핵심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EC20C77-8C30-E905-0175-92EDDF272C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2F3A45-EF24-4C78-8C33-4140B73B714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03685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7B440-EE7B-5234-8B2D-F2AF68AC3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2D2E07-F99F-FFDA-2CFD-2C1592099F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4BA9B40-4DAF-78D0-DB63-6B1CE3AB79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910AD76-8A69-1CFB-C9BB-E6AFECBBEC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2F3A45-EF24-4C78-8C33-4140B73B7147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84351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B78F6-3FF1-6079-11B5-379EA2567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8C5CA56-D1FC-1D26-C112-FFAA3138F1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59E6C5C-5D62-5CF2-2567-996D54F0D3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FC0235-60A6-64C1-F00F-1F057E6160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2F3A45-EF24-4C78-8C33-4140B73B7147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91530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95877-A315-7A46-18A8-7C8595F6A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F30015E-3B0C-3D30-5E55-93A8BC780A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A187C41-1426-8E31-63E3-178B5691C9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5CBFC8-EABB-3AEF-F25E-2856833392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2F3A45-EF24-4C78-8C33-4140B73B7147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34836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93044-41AF-D68E-8D6C-BE85F525D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60C3CA3-F03F-4AF7-8B1D-4F78DAE264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77C78FB-D4C5-5B03-656D-7CC24CB605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FBF9C7-46E7-9902-B1D7-3414DD4C90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2F3A45-EF24-4C78-8C33-4140B73B7147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61017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BAEB2-68FF-48A4-35E7-EF3485A54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0A3C154-E7A4-A179-0997-16308E337B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897FEED-34DC-44D0-C659-D73C9162ED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E1291C-6503-3D80-3367-97D12472A7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2F3A45-EF24-4C78-8C33-4140B73B7147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62943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DDDC6-1877-E771-2A68-F6BFAA4E0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BF0014A-E510-EF0A-4A33-7F89AE6245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321F3C2-3A13-DF1C-0DDD-0953EC3C6A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D271E6-665D-F377-365D-1D200E4018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2F3A45-EF24-4C78-8C33-4140B73B7147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26254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E481B-0053-7923-6727-87F74CB9C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59F30DA-5553-5460-0302-B4D50F407E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B9975F8-8D7F-0676-8F84-CB15277544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E434FB-8BA7-BFAD-5B32-9D46925628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2F3A45-EF24-4C78-8C33-4140B73B7147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43473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022D0-4DDD-5348-E4AF-3E0EC92A4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484B597-1A6F-A64B-7BC6-B607746738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ACF4D1A-48BC-DD5B-8CB8-470AE0F4E3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Full이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단일 손실 </a:t>
            </a:r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ablation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spatial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temporal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단독)보다도 근소 우위 — 두 손실을 함께 쓰는 게 낫다는 근거.</a:t>
            </a:r>
          </a:p>
          <a:p>
            <a:pPr lvl="0"/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카테고리에서 </a:t>
            </a:r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Full이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확실히 우세(43.87%) — </a:t>
            </a:r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L_spatial의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패치 정렬 효과와 일치.</a:t>
            </a:r>
          </a:p>
          <a:p>
            <a:pPr lvl="0"/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Baseline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KD)도 이미 50.30%로 준수 — </a:t>
            </a:r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feature-KD의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순이득은 실재하지만 크지 않음(~1~1.4pp).</a:t>
            </a:r>
          </a:p>
          <a:p>
            <a:pPr lvl="0"/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KD-</a:t>
            </a:r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only가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최하위, 특히 </a:t>
            </a:r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exist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(67.68% </a:t>
            </a:r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vs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나머지 ~80%대). 실제 생성 결과를 확인한 결과 </a:t>
            </a:r>
            <a:r>
              <a:rPr lang="ko-KR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판단 자체는 맞히는데 정답 뒤에 부연설명을 붙여서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</a:t>
            </a:r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yes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are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many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.") </a:t>
            </a:r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exact-match에서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떨어지는 패턴 — </a:t>
            </a:r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teacher의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DriveLM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혼합 학습 스타일이 </a:t>
            </a:r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KD를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통해 일부 전이된 잔여효과로 진단.</a:t>
            </a:r>
          </a:p>
          <a:p>
            <a:pPr lvl="0"/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count는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5개 전부 7~11%대로 공통 약점 — 모델 규모/데이터에서 오는 구조적 한계로 판단.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BDD90C-94A7-9009-2BD8-F5C6BB8100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2F3A45-EF24-4C78-8C33-4140B73B7147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34668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DDAE6-D953-C14E-57AC-894DB4CD4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EB488D6-8FE6-E850-8BC7-DC677AAEF5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D5ECB9B-5361-18C9-0B7C-7ED5C19BE9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A2DDEB-DD6C-3FC3-0AE8-0E495BD641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2F3A45-EF24-4C78-8C33-4140B73B7147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89242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13808-794A-B9A6-16D0-1E75960BD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7D33EA4-E080-090C-4EF7-D923FDFE29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5B6515F-1792-F17C-FF5A-5DA7350DE7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470525-7A46-99EB-93CA-BBD98A7D34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2F3A45-EF24-4C78-8C33-4140B73B7147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21736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6DE38-F088-B1F7-563B-43474A923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857134E-A13A-F8AC-34C3-9AB3DE7205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C035BF5-C21F-D51F-232D-C6D263420B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07B082-9B12-AC15-D955-0BD638DD1D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2F3A45-EF24-4C78-8C33-4140B73B7147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567910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6F5A6D-F0D2-2E4D-C72E-960BAA7C1C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D1CA8C5-416E-4572-4AFB-87B6F8317A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4E1D0B-65C8-1A3B-33AB-F4D2C212A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48D40-475E-4CF3-BF63-F5603F26FB36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88B1729-3E57-DE45-8112-4450D3EEC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4FE7B6-5D1B-F3FA-3C9A-D27E510FB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21FF3-ACB4-4177-8760-395478021F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9934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B00D2E-BBD6-9F8B-EE83-60E0719B0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EDDEDE-3482-6B2A-5413-CAE68C4BC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293B50-0D26-2411-CA8E-5E71FA156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48D40-475E-4CF3-BF63-F5603F26FB36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D6C7B8-0A36-46BF-1241-CE6AF90BB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FC528C-A8F5-73DE-CCEA-2D9DEB4E9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21FF3-ACB4-4177-8760-395478021F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9951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534157-550B-4DC6-703D-52F79A68E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ACAC756-D8B3-EEEA-E808-C380797C72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E3C5B6-BF68-3648-6B94-14FEC2C13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48D40-475E-4CF3-BF63-F5603F26FB36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E939D6-D1E0-E3E3-652E-762FAB264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FC5C9A-351C-B1D8-9E24-1C7D8EC29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21FF3-ACB4-4177-8760-395478021F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052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9BD924-6E46-2C7E-7236-DBEB67126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083FCA-5A04-BA7B-BD6B-A2276BF6D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929BE1B-180A-25D1-D072-A7380E182D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BD5DC4D-8892-E768-0AA3-E4B8AB281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48D40-475E-4CF3-BF63-F5603F26FB36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9B5C9DD-59B3-19A4-EEA5-622B394CB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977C57E-9620-2F3A-DCE4-1131EA54F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21FF3-ACB4-4177-8760-395478021F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4593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F6A509-CFA7-E2A0-8204-17F0F105D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367936C-5BE1-DB82-DB9C-0CFEB7B94C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A0EDBF5-CAED-3FF1-EC60-D108E4BA31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135AB01-B8C6-EC3E-26D9-A586A6F4C7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3AD60CD-0442-FF2F-67C3-54FF694756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BF8F459-99BA-7637-8FCE-49EF1EEFD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48D40-475E-4CF3-BF63-F5603F26FB36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74E20F5-CEC8-6457-643A-1B71EFEE7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2F61271-87F0-B523-77E0-91AA19C2D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21FF3-ACB4-4177-8760-395478021F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2288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CCE1A3-7779-4841-7836-7F52F2270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764E01D-ADEE-DA6D-4AE9-91DA4FF09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48D40-475E-4CF3-BF63-F5603F26FB36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6782642-FC1E-CEB7-B1C4-6FCF1F991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359E03B-69AF-3799-FE29-04542502D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21FF3-ACB4-4177-8760-395478021F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7077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382981E-A9BB-44EA-5152-F7F90E892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48D40-475E-4CF3-BF63-F5603F26FB36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7576038-6360-C4D3-6EF7-5C07255D2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7D917AD-BF23-BCFA-E852-7A3DF218F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21FF3-ACB4-4177-8760-395478021F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1744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D5B123-8667-5AC4-0317-5E8CE93E0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13C296-3529-2ECE-A565-0CA0BFE295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D2217A7-F0B4-B0BE-710D-69711E4ABA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734A15B-F514-C2E0-D9A7-E1E6F2A8C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48D40-475E-4CF3-BF63-F5603F26FB36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CF4153B-38A4-6928-F01E-31EFA86F5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78B77B5-1039-F450-F628-6888F39CC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21FF3-ACB4-4177-8760-395478021F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4335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C198BF-76B9-CE15-EF20-AA6511673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C4074B8-E1D1-EA3A-4376-8D2C5F2C1A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A6BE02E-6E45-86B2-1171-624BA15473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F36D74B-FB81-4447-EA00-C1450CCA4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48D40-475E-4CF3-BF63-F5603F26FB36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DDD3F98-D4FD-56C2-6CD8-6B675F202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EB10026-0321-30D0-D2DF-C339A3885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21FF3-ACB4-4177-8760-395478021F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95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58558C-1605-44C6-1873-D9873D0C8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57C776E-7A05-F9E7-D555-0F3BE5E62A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FCA9E3-879D-6D94-0D4E-63FB9312A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48D40-475E-4CF3-BF63-F5603F26FB36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8281D45-1720-E704-DCE5-31BC2D57D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432E75-780F-4B86-9352-60A2B04A3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21FF3-ACB4-4177-8760-395478021F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0254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0E748F3-0E3B-24EF-4B48-55464F2023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897A2D4-8BCB-2A41-BD87-AA1F15F28F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63E1DB-55FC-85AA-E585-2633CC66E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48D40-475E-4CF3-BF63-F5603F26FB36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4DDB23-B86E-6E37-0531-F8870463C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A669407-9BED-C7CA-3C40-6FEA22DBC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21FF3-ACB4-4177-8760-395478021F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082158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4732291-3835-BE25-73AD-F1B4144D1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6A52544-F9A2-0F6F-C5C7-32B34436CF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F99EA0-C82A-2B64-66A6-0C0A478AC6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548D40-475E-4CF3-BF63-F5603F26FB36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C504BF-FD6D-EA68-5AD2-5FE01087B5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7224CE-962C-3760-C3F9-0BFA5F8BD4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F21FF3-ACB4-4177-8760-395478021F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5265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상징, 폰트, 텍스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001342C-358A-2BD4-89C8-8679F64C6B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34" t="16457" r="8019" b="14080"/>
          <a:stretch>
            <a:fillRect/>
          </a:stretch>
        </p:blipFill>
        <p:spPr>
          <a:xfrm>
            <a:off x="1" y="6248543"/>
            <a:ext cx="1750978" cy="609456"/>
          </a:xfrm>
          <a:prstGeom prst="rect">
            <a:avLst/>
          </a:prstGeom>
        </p:spPr>
      </p:pic>
      <p:pic>
        <p:nvPicPr>
          <p:cNvPr id="5" name="그림 4" descr="폰트, 텍스트, 로고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6B15AD0-AEEF-A634-F518-0A4CAB9A07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2" t="10405" r="9077" b="12451"/>
          <a:stretch>
            <a:fillRect/>
          </a:stretch>
        </p:blipFill>
        <p:spPr>
          <a:xfrm>
            <a:off x="10442493" y="6248543"/>
            <a:ext cx="1749507" cy="608400"/>
          </a:xfrm>
          <a:prstGeom prst="rect">
            <a:avLst/>
          </a:prstGeom>
        </p:spPr>
      </p:pic>
      <p:sp>
        <p:nvSpPr>
          <p:cNvPr id="7" name="제목 1">
            <a:extLst>
              <a:ext uri="{FF2B5EF4-FFF2-40B4-BE49-F238E27FC236}">
                <a16:creationId xmlns:a16="http://schemas.microsoft.com/office/drawing/2014/main" id="{487750F3-B126-D433-BE5A-1EB10CBC0D5C}"/>
              </a:ext>
            </a:extLst>
          </p:cNvPr>
          <p:cNvSpPr txBox="1">
            <a:spLocks/>
          </p:cNvSpPr>
          <p:nvPr/>
        </p:nvSpPr>
        <p:spPr>
          <a:xfrm>
            <a:off x="1524000" y="2341873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b="1" dirty="0"/>
              <a:t>LAB Seminar</a:t>
            </a:r>
            <a:endParaRPr lang="ko-KR" altLang="en-US" sz="3200" b="1" dirty="0"/>
          </a:p>
        </p:txBody>
      </p:sp>
      <p:sp>
        <p:nvSpPr>
          <p:cNvPr id="10" name="부제목 2">
            <a:extLst>
              <a:ext uri="{FF2B5EF4-FFF2-40B4-BE49-F238E27FC236}">
                <a16:creationId xmlns:a16="http://schemas.microsoft.com/office/drawing/2014/main" id="{1E89C230-9346-8545-2A94-026961987FDD}"/>
              </a:ext>
            </a:extLst>
          </p:cNvPr>
          <p:cNvSpPr txBox="1">
            <a:spLocks/>
          </p:cNvSpPr>
          <p:nvPr/>
        </p:nvSpPr>
        <p:spPr>
          <a:xfrm>
            <a:off x="1524000" y="3997635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800" b="1" dirty="0"/>
              <a:t>2026. 08. </a:t>
            </a:r>
            <a:r>
              <a:rPr lang="en-US" altLang="ko-KR" sz="2800" b="1"/>
              <a:t>14.</a:t>
            </a:r>
            <a:endParaRPr lang="en-US" altLang="ko-KR" sz="2800" b="1" dirty="0"/>
          </a:p>
          <a:p>
            <a:r>
              <a:rPr lang="en-US" altLang="ko-KR" sz="2800" b="1" dirty="0"/>
              <a:t>AVLAB </a:t>
            </a:r>
            <a:r>
              <a:rPr lang="ko-KR" altLang="en-US" sz="2800" b="1" dirty="0"/>
              <a:t>최준</a:t>
            </a:r>
          </a:p>
        </p:txBody>
      </p:sp>
    </p:spTree>
    <p:extLst>
      <p:ext uri="{BB962C8B-B14F-4D97-AF65-F5344CB8AC3E}">
        <p14:creationId xmlns:p14="http://schemas.microsoft.com/office/powerpoint/2010/main" val="3539255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DE52E-DE41-2E70-0B4C-1AAA71360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1">
            <a:extLst>
              <a:ext uri="{FF2B5EF4-FFF2-40B4-BE49-F238E27FC236}">
                <a16:creationId xmlns:a16="http://schemas.microsoft.com/office/drawing/2014/main" id="{BA3557CC-4418-2CDA-AD20-9B3EB4617B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84711"/>
            <a:ext cx="12192000" cy="536383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/>
              <a:t>Driving-Aware Distillation - </a:t>
            </a:r>
            <a:r>
              <a:rPr lang="ko-KR" altLang="en-US" sz="2000" dirty="0"/>
              <a:t>기존</a:t>
            </a:r>
            <a:r>
              <a:rPr lang="en-US" altLang="ko-KR" sz="2000" dirty="0"/>
              <a:t>(</a:t>
            </a:r>
            <a:r>
              <a:rPr lang="en-US" altLang="ko-KR" sz="2000" dirty="0" err="1"/>
              <a:t>L_task</a:t>
            </a:r>
            <a:r>
              <a:rPr lang="en-US" altLang="ko-KR" sz="2000" dirty="0"/>
              <a:t> + </a:t>
            </a:r>
            <a:r>
              <a:rPr lang="en-US" altLang="ko-KR" sz="2000" dirty="0" err="1"/>
              <a:t>L_hazard</a:t>
            </a:r>
            <a:r>
              <a:rPr lang="en-US" altLang="ko-KR" sz="2000" dirty="0"/>
              <a:t>)</a:t>
            </a:r>
            <a:endParaRPr lang="en-US" altLang="ko-KR" sz="1800" dirty="0"/>
          </a:p>
          <a:p>
            <a:pPr>
              <a:lnSpc>
                <a:spcPct val="150000"/>
              </a:lnSpc>
            </a:pPr>
            <a:r>
              <a:rPr lang="ko-KR" altLang="en-US" sz="1800" dirty="0"/>
              <a:t>모든 샘플을 동일한 비중으로 증류하지 않고</a:t>
            </a:r>
            <a:r>
              <a:rPr lang="en-US" altLang="ko-KR" sz="1800" dirty="0"/>
              <a:t>, </a:t>
            </a:r>
            <a:r>
              <a:rPr lang="ko-KR" altLang="en-US" sz="1800" dirty="0"/>
              <a:t>위험도가 높은 장면의 </a:t>
            </a:r>
            <a:r>
              <a:rPr lang="en-US" altLang="ko-KR" sz="1800" dirty="0"/>
              <a:t>Teacher </a:t>
            </a:r>
            <a:r>
              <a:rPr lang="ko-KR" altLang="en-US" sz="1800" dirty="0"/>
              <a:t>출력을 </a:t>
            </a:r>
            <a:r>
              <a:rPr lang="en-US" altLang="ko-KR" sz="1800" dirty="0"/>
              <a:t>Student</a:t>
            </a:r>
            <a:r>
              <a:rPr lang="ko-KR" altLang="en-US" sz="1800" dirty="0"/>
              <a:t>가 더 정확하게 모방하도록 가중치 부여</a:t>
            </a:r>
            <a:endParaRPr lang="en-US" altLang="ko-KR" sz="1800" dirty="0"/>
          </a:p>
          <a:p>
            <a:pPr>
              <a:lnSpc>
                <a:spcPct val="150000"/>
              </a:lnSpc>
            </a:pPr>
            <a:r>
              <a:rPr lang="ko-KR" altLang="en-US" sz="1800" dirty="0"/>
              <a:t>위험도 라벨 </a:t>
            </a:r>
            <a:r>
              <a:rPr lang="en-US" altLang="ko-KR" sz="1800" dirty="0"/>
              <a:t>1~5</a:t>
            </a:r>
            <a:r>
              <a:rPr lang="ko-KR" altLang="en-US" sz="1800" dirty="0"/>
              <a:t>점 사이의 분포 불균형</a:t>
            </a:r>
            <a:endParaRPr lang="en-US" altLang="ko-KR" sz="1800" dirty="0"/>
          </a:p>
          <a:p>
            <a:pPr>
              <a:lnSpc>
                <a:spcPct val="150000"/>
              </a:lnSpc>
            </a:pPr>
            <a:r>
              <a:rPr lang="ko-KR" altLang="en-US" sz="1800" dirty="0"/>
              <a:t>외부 데이터셋 고려</a:t>
            </a:r>
            <a:r>
              <a:rPr lang="en-US" altLang="ko-KR" sz="1800" dirty="0"/>
              <a:t>, </a:t>
            </a:r>
            <a:r>
              <a:rPr lang="ko-KR" altLang="en-US" sz="1800" dirty="0"/>
              <a:t>프롬프트 </a:t>
            </a:r>
            <a:r>
              <a:rPr lang="ko-KR" altLang="en-US" sz="1800" dirty="0" err="1"/>
              <a:t>재보정</a:t>
            </a:r>
            <a:r>
              <a:rPr lang="ko-KR" altLang="en-US" sz="1800" dirty="0"/>
              <a:t> 등 여러 시도</a:t>
            </a:r>
            <a:endParaRPr lang="en-US" altLang="ko-KR" sz="1800" dirty="0"/>
          </a:p>
        </p:txBody>
      </p:sp>
      <p:pic>
        <p:nvPicPr>
          <p:cNvPr id="11" name="그림 10" descr="폰트, 텍스트, 로고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02106C6-412C-9DEE-45D7-942DD11BB4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2" t="10405" r="9077" b="12451"/>
          <a:stretch>
            <a:fillRect/>
          </a:stretch>
        </p:blipFill>
        <p:spPr>
          <a:xfrm>
            <a:off x="10442492" y="6249600"/>
            <a:ext cx="1749507" cy="608400"/>
          </a:xfrm>
          <a:prstGeom prst="rect">
            <a:avLst/>
          </a:prstGeom>
        </p:spPr>
      </p:pic>
      <p:pic>
        <p:nvPicPr>
          <p:cNvPr id="13" name="그림 12" descr="상징, 폰트, 텍스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ACCCE31-6228-BB1B-D5D2-9576C965C6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34" t="16457" r="8019" b="14080"/>
          <a:stretch>
            <a:fillRect/>
          </a:stretch>
        </p:blipFill>
        <p:spPr>
          <a:xfrm>
            <a:off x="0" y="6248543"/>
            <a:ext cx="1750978" cy="609456"/>
          </a:xfrm>
          <a:prstGeom prst="rect">
            <a:avLst/>
          </a:prstGeom>
        </p:spPr>
      </p:pic>
      <p:sp>
        <p:nvSpPr>
          <p:cNvPr id="19" name="제목 2">
            <a:extLst>
              <a:ext uri="{FF2B5EF4-FFF2-40B4-BE49-F238E27FC236}">
                <a16:creationId xmlns:a16="http://schemas.microsoft.com/office/drawing/2014/main" id="{5DD9B86D-2B6A-81CD-DDA4-C9A64F8B8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84711"/>
          </a:xfrm>
          <a:gradFill flip="none" rotWithShape="1">
            <a:gsLst>
              <a:gs pos="0">
                <a:srgbClr val="B7B7B7"/>
              </a:gs>
              <a:gs pos="75000">
                <a:srgbClr val="B62552"/>
              </a:gs>
            </a:gsLst>
            <a:lin ang="10800000" scaled="1"/>
            <a:tileRect/>
          </a:gradFill>
        </p:spPr>
        <p:txBody>
          <a:bodyPr>
            <a:normAutofit/>
          </a:bodyPr>
          <a:lstStyle/>
          <a:p>
            <a:r>
              <a:rPr lang="ko-KR" altLang="en-US" sz="2400" dirty="0"/>
              <a:t>자율주행 특화 </a:t>
            </a:r>
            <a:r>
              <a:rPr lang="en-US" altLang="ko-KR" sz="2400" dirty="0"/>
              <a:t>VLM </a:t>
            </a:r>
            <a:r>
              <a:rPr lang="ko-KR" altLang="en-US" sz="2400" dirty="0"/>
              <a:t>증류 </a:t>
            </a:r>
            <a:r>
              <a:rPr lang="en-US" altLang="ko-KR" sz="2400" dirty="0"/>
              <a:t>+ </a:t>
            </a:r>
            <a:r>
              <a:rPr lang="ko-KR" altLang="en-US" sz="2400" dirty="0" err="1"/>
              <a:t>엣지</a:t>
            </a:r>
            <a:r>
              <a:rPr lang="ko-KR" altLang="en-US" sz="2400" dirty="0"/>
              <a:t> 최적화 통합 파이프라인</a:t>
            </a:r>
            <a:endParaRPr lang="en-US" altLang="ko-KR" sz="24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938E26A-7B22-0670-E7A1-C1F7649770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787" y="3566627"/>
            <a:ext cx="5624645" cy="242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618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79261-5BFF-EAE5-82B4-ACA497B0B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1">
            <a:extLst>
              <a:ext uri="{FF2B5EF4-FFF2-40B4-BE49-F238E27FC236}">
                <a16:creationId xmlns:a16="http://schemas.microsoft.com/office/drawing/2014/main" id="{22FAEA7C-3734-0FF5-B31A-B865940694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84711"/>
            <a:ext cx="12192000" cy="53638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/>
              <a:t>Driving-Aware Distillation - </a:t>
            </a:r>
            <a:r>
              <a:rPr lang="ko-KR" altLang="en-US" sz="2000" dirty="0"/>
              <a:t>변경 </a:t>
            </a:r>
            <a:r>
              <a:rPr lang="en-US" altLang="ko-KR" sz="2000" dirty="0"/>
              <a:t>(</a:t>
            </a:r>
            <a:r>
              <a:rPr lang="en-US" altLang="ko-KR" sz="2000" dirty="0" err="1"/>
              <a:t>L_task</a:t>
            </a:r>
            <a:r>
              <a:rPr lang="en-US" altLang="ko-KR" sz="2000" dirty="0"/>
              <a:t> + </a:t>
            </a:r>
            <a:r>
              <a:rPr lang="en-US" altLang="ko-KR" sz="2000" dirty="0" err="1"/>
              <a:t>L_spatial</a:t>
            </a:r>
            <a:r>
              <a:rPr lang="ko-KR" altLang="en-US" sz="2000" dirty="0"/>
              <a:t> </a:t>
            </a:r>
            <a:r>
              <a:rPr lang="en-US" altLang="ko-KR" sz="2000" dirty="0"/>
              <a:t>+</a:t>
            </a:r>
            <a:r>
              <a:rPr lang="ko-KR" altLang="en-US" sz="2000" dirty="0"/>
              <a:t> </a:t>
            </a:r>
            <a:r>
              <a:rPr lang="en-US" altLang="ko-KR" sz="2000" dirty="0" err="1"/>
              <a:t>L_temporal</a:t>
            </a:r>
            <a:r>
              <a:rPr lang="en-US" altLang="ko-KR" sz="2000" dirty="0"/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1800" dirty="0"/>
              <a:t>공간 정보 보존 </a:t>
            </a:r>
            <a:r>
              <a:rPr lang="en-US" altLang="ko-KR" sz="1800" dirty="0"/>
              <a:t>Feature </a:t>
            </a:r>
            <a:r>
              <a:rPr lang="ko-KR" altLang="en-US" sz="1800" dirty="0"/>
              <a:t>증류</a:t>
            </a:r>
            <a:r>
              <a:rPr lang="en-US" altLang="ko-KR" sz="1800" dirty="0"/>
              <a:t>(</a:t>
            </a:r>
            <a:r>
              <a:rPr lang="en-US" altLang="ko-KR" sz="1800" dirty="0" err="1"/>
              <a:t>L_spatial</a:t>
            </a:r>
            <a:r>
              <a:rPr lang="en-US" altLang="ko-KR" sz="1800" dirty="0"/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sz="1600" dirty="0"/>
              <a:t>Teacher/Student vision encoder </a:t>
            </a:r>
            <a:r>
              <a:rPr lang="ko-KR" altLang="en-US" sz="1600" dirty="0"/>
              <a:t>중간층에서 추출한 </a:t>
            </a:r>
            <a:r>
              <a:rPr lang="en-US" altLang="ko-KR" sz="1600" dirty="0"/>
              <a:t>patch-level hidden state</a:t>
            </a:r>
            <a:r>
              <a:rPr lang="ko-KR" altLang="en-US" sz="1600" dirty="0"/>
              <a:t>를 학습 가능한 </a:t>
            </a:r>
            <a:r>
              <a:rPr lang="en-US" altLang="ko-KR" sz="1600" dirty="0"/>
              <a:t>projection</a:t>
            </a:r>
            <a:r>
              <a:rPr lang="ko-KR" altLang="en-US" sz="1600" dirty="0"/>
              <a:t>과 </a:t>
            </a:r>
            <a:r>
              <a:rPr lang="en-US" altLang="ko-KR" sz="1600" dirty="0"/>
              <a:t>cosine </a:t>
            </a:r>
            <a:r>
              <a:rPr lang="ko-KR" altLang="en-US" sz="1600" dirty="0"/>
              <a:t>손실로 정렬하도록 설계</a:t>
            </a:r>
            <a:endParaRPr lang="en-US" altLang="ko-KR" sz="1600" dirty="0"/>
          </a:p>
          <a:p>
            <a:pPr>
              <a:lnSpc>
                <a:spcPct val="150000"/>
              </a:lnSpc>
            </a:pPr>
            <a:r>
              <a:rPr lang="ko-KR" altLang="en-US" sz="1800" dirty="0"/>
              <a:t>시간적 맥락 압축 증류</a:t>
            </a:r>
            <a:r>
              <a:rPr lang="en-US" altLang="ko-KR" sz="1800" dirty="0"/>
              <a:t>(</a:t>
            </a:r>
            <a:r>
              <a:rPr lang="en-US" altLang="ko-KR" sz="1800" dirty="0" err="1"/>
              <a:t>L_temporal</a:t>
            </a:r>
            <a:r>
              <a:rPr lang="en-US" altLang="ko-KR" sz="1800" dirty="0"/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sz="1600" dirty="0"/>
              <a:t>Teacher</a:t>
            </a:r>
            <a:r>
              <a:rPr lang="ko-KR" altLang="en-US" sz="1600" dirty="0"/>
              <a:t>가 </a:t>
            </a:r>
            <a:r>
              <a:rPr lang="en-US" altLang="ko-KR" sz="1600" dirty="0"/>
              <a:t>K</a:t>
            </a:r>
            <a:r>
              <a:rPr lang="ko-KR" altLang="en-US" sz="1600" dirty="0"/>
              <a:t>개 프레임</a:t>
            </a:r>
            <a:r>
              <a:rPr lang="en-US" altLang="ko-KR" sz="1600" dirty="0"/>
              <a:t>(</a:t>
            </a:r>
            <a:r>
              <a:rPr lang="ko-KR" altLang="en-US" sz="1600" dirty="0"/>
              <a:t>현재</a:t>
            </a:r>
            <a:r>
              <a:rPr lang="en-US" altLang="ko-KR" sz="1600" dirty="0"/>
              <a:t>+</a:t>
            </a:r>
            <a:r>
              <a:rPr lang="ko-KR" altLang="en-US" sz="1600" dirty="0"/>
              <a:t>과거</a:t>
            </a:r>
            <a:r>
              <a:rPr lang="en-US" altLang="ko-KR" sz="1600" dirty="0"/>
              <a:t>)</a:t>
            </a:r>
            <a:r>
              <a:rPr lang="ko-KR" altLang="en-US" sz="1600" dirty="0"/>
              <a:t>을 보고 얻은 답변 직전 </a:t>
            </a:r>
            <a:r>
              <a:rPr lang="en-US" altLang="ko-KR" sz="1600" dirty="0"/>
              <a:t>hidden state</a:t>
            </a:r>
            <a:r>
              <a:rPr lang="ko-KR" altLang="en-US" sz="1600" dirty="0"/>
              <a:t>를</a:t>
            </a:r>
            <a:r>
              <a:rPr lang="en-US" altLang="ko-KR" sz="1600" dirty="0"/>
              <a:t>, </a:t>
            </a:r>
            <a:r>
              <a:rPr lang="ko-KR" altLang="en-US" sz="1600" dirty="0"/>
              <a:t>항상 단일 프레임</a:t>
            </a:r>
            <a:r>
              <a:rPr lang="en-US" altLang="ko-KR" sz="1600" dirty="0"/>
              <a:t>(1</a:t>
            </a:r>
            <a:r>
              <a:rPr lang="ko-KR" altLang="en-US" sz="1600" dirty="0"/>
              <a:t>장</a:t>
            </a:r>
            <a:r>
              <a:rPr lang="en-US" altLang="ko-KR" sz="1600" dirty="0"/>
              <a:t>)</a:t>
            </a:r>
            <a:r>
              <a:rPr lang="ko-KR" altLang="en-US" sz="1600" dirty="0"/>
              <a:t>만 보는 </a:t>
            </a:r>
            <a:r>
              <a:rPr lang="en-US" altLang="ko-KR" sz="1600" dirty="0"/>
              <a:t>Student</a:t>
            </a:r>
            <a:r>
              <a:rPr lang="ko-KR" altLang="en-US" sz="1600" dirty="0"/>
              <a:t>가 모방하도록 증류</a:t>
            </a:r>
            <a:endParaRPr lang="en-US" altLang="ko-KR" sz="1800" dirty="0"/>
          </a:p>
        </p:txBody>
      </p:sp>
      <p:pic>
        <p:nvPicPr>
          <p:cNvPr id="11" name="그림 10" descr="폰트, 텍스트, 로고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E7EF4AB-0F99-6EDE-919A-750F90620F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2" t="10405" r="9077" b="12451"/>
          <a:stretch>
            <a:fillRect/>
          </a:stretch>
        </p:blipFill>
        <p:spPr>
          <a:xfrm>
            <a:off x="10442492" y="6249600"/>
            <a:ext cx="1749507" cy="608400"/>
          </a:xfrm>
          <a:prstGeom prst="rect">
            <a:avLst/>
          </a:prstGeom>
        </p:spPr>
      </p:pic>
      <p:pic>
        <p:nvPicPr>
          <p:cNvPr id="13" name="그림 12" descr="상징, 폰트, 텍스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303B778-B69F-7317-1FD1-F4EB750112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34" t="16457" r="8019" b="14080"/>
          <a:stretch>
            <a:fillRect/>
          </a:stretch>
        </p:blipFill>
        <p:spPr>
          <a:xfrm>
            <a:off x="0" y="6248543"/>
            <a:ext cx="1750978" cy="609456"/>
          </a:xfrm>
          <a:prstGeom prst="rect">
            <a:avLst/>
          </a:prstGeom>
        </p:spPr>
      </p:pic>
      <p:sp>
        <p:nvSpPr>
          <p:cNvPr id="19" name="제목 2">
            <a:extLst>
              <a:ext uri="{FF2B5EF4-FFF2-40B4-BE49-F238E27FC236}">
                <a16:creationId xmlns:a16="http://schemas.microsoft.com/office/drawing/2014/main" id="{B71F0B32-99AA-36C8-CBA3-04C500A47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84711"/>
          </a:xfrm>
          <a:gradFill flip="none" rotWithShape="1">
            <a:gsLst>
              <a:gs pos="0">
                <a:srgbClr val="B7B7B7"/>
              </a:gs>
              <a:gs pos="75000">
                <a:srgbClr val="B62552"/>
              </a:gs>
            </a:gsLst>
            <a:lin ang="10800000" scaled="1"/>
            <a:tileRect/>
          </a:gradFill>
        </p:spPr>
        <p:txBody>
          <a:bodyPr>
            <a:normAutofit/>
          </a:bodyPr>
          <a:lstStyle/>
          <a:p>
            <a:r>
              <a:rPr lang="ko-KR" altLang="en-US" sz="2400" dirty="0"/>
              <a:t>자율주행 특화 </a:t>
            </a:r>
            <a:r>
              <a:rPr lang="en-US" altLang="ko-KR" sz="2400" dirty="0"/>
              <a:t>VLM </a:t>
            </a:r>
            <a:r>
              <a:rPr lang="ko-KR" altLang="en-US" sz="2400" dirty="0"/>
              <a:t>증류 </a:t>
            </a:r>
            <a:r>
              <a:rPr lang="en-US" altLang="ko-KR" sz="2400" dirty="0"/>
              <a:t>+ </a:t>
            </a:r>
            <a:r>
              <a:rPr lang="ko-KR" altLang="en-US" sz="2400" dirty="0" err="1"/>
              <a:t>엣지</a:t>
            </a:r>
            <a:r>
              <a:rPr lang="ko-KR" altLang="en-US" sz="2400" dirty="0"/>
              <a:t> 최적화 통합 파이프라인</a:t>
            </a:r>
          </a:p>
        </p:txBody>
      </p:sp>
    </p:spTree>
    <p:extLst>
      <p:ext uri="{BB962C8B-B14F-4D97-AF65-F5344CB8AC3E}">
        <p14:creationId xmlns:p14="http://schemas.microsoft.com/office/powerpoint/2010/main" val="2568624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7E884-134C-40C1-FFB7-C37BB0CE9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1">
            <a:extLst>
              <a:ext uri="{FF2B5EF4-FFF2-40B4-BE49-F238E27FC236}">
                <a16:creationId xmlns:a16="http://schemas.microsoft.com/office/drawing/2014/main" id="{B3E7A7D0-AB3A-3AD6-1093-79907078C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84711"/>
            <a:ext cx="12192000" cy="53638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dirty="0"/>
              <a:t>학습 설정</a:t>
            </a:r>
            <a:endParaRPr lang="en-US" altLang="ko-KR" sz="2000" dirty="0"/>
          </a:p>
          <a:p>
            <a:r>
              <a:rPr lang="ko-KR" altLang="en-US" sz="1800" dirty="0"/>
              <a:t>공통</a:t>
            </a:r>
            <a:endParaRPr lang="en-US" altLang="ko-KR" sz="1800" dirty="0"/>
          </a:p>
        </p:txBody>
      </p:sp>
      <p:pic>
        <p:nvPicPr>
          <p:cNvPr id="11" name="그림 10" descr="폰트, 텍스트, 로고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C5235F-7CF1-18CA-5C3F-AD641ECCD2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2" t="10405" r="9077" b="12451"/>
          <a:stretch>
            <a:fillRect/>
          </a:stretch>
        </p:blipFill>
        <p:spPr>
          <a:xfrm>
            <a:off x="10442492" y="6249600"/>
            <a:ext cx="1749507" cy="608400"/>
          </a:xfrm>
          <a:prstGeom prst="rect">
            <a:avLst/>
          </a:prstGeom>
        </p:spPr>
      </p:pic>
      <p:pic>
        <p:nvPicPr>
          <p:cNvPr id="13" name="그림 12" descr="상징, 폰트, 텍스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EA66792-428B-FE4D-4C04-D4A9182939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34" t="16457" r="8019" b="14080"/>
          <a:stretch>
            <a:fillRect/>
          </a:stretch>
        </p:blipFill>
        <p:spPr>
          <a:xfrm>
            <a:off x="0" y="6248543"/>
            <a:ext cx="1750978" cy="609456"/>
          </a:xfrm>
          <a:prstGeom prst="rect">
            <a:avLst/>
          </a:prstGeom>
        </p:spPr>
      </p:pic>
      <p:sp>
        <p:nvSpPr>
          <p:cNvPr id="19" name="제목 2">
            <a:extLst>
              <a:ext uri="{FF2B5EF4-FFF2-40B4-BE49-F238E27FC236}">
                <a16:creationId xmlns:a16="http://schemas.microsoft.com/office/drawing/2014/main" id="{387E52D6-F8B2-1B70-2E9E-CA5E72969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84711"/>
          </a:xfrm>
          <a:gradFill flip="none" rotWithShape="1">
            <a:gsLst>
              <a:gs pos="0">
                <a:srgbClr val="B7B7B7"/>
              </a:gs>
              <a:gs pos="75000">
                <a:srgbClr val="B62552"/>
              </a:gs>
            </a:gsLst>
            <a:lin ang="10800000" scaled="1"/>
            <a:tileRect/>
          </a:gradFill>
        </p:spPr>
        <p:txBody>
          <a:bodyPr>
            <a:normAutofit/>
          </a:bodyPr>
          <a:lstStyle/>
          <a:p>
            <a:r>
              <a:rPr lang="ko-KR" altLang="en-US" sz="2400" dirty="0"/>
              <a:t>자율주행 특화 </a:t>
            </a:r>
            <a:r>
              <a:rPr lang="en-US" altLang="ko-KR" sz="2400" dirty="0"/>
              <a:t>VLM </a:t>
            </a:r>
            <a:r>
              <a:rPr lang="ko-KR" altLang="en-US" sz="2400" dirty="0"/>
              <a:t>증류 </a:t>
            </a:r>
            <a:r>
              <a:rPr lang="en-US" altLang="ko-KR" sz="2400" dirty="0"/>
              <a:t>+ </a:t>
            </a:r>
            <a:r>
              <a:rPr lang="ko-KR" altLang="en-US" sz="2400" dirty="0" err="1"/>
              <a:t>엣지</a:t>
            </a:r>
            <a:r>
              <a:rPr lang="ko-KR" altLang="en-US" sz="2400" dirty="0"/>
              <a:t> 최적화 통합 파이프라인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E30E4AD-E4DC-3BCE-BA04-5DF58DFFB8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899419"/>
              </p:ext>
            </p:extLst>
          </p:nvPr>
        </p:nvGraphicFramePr>
        <p:xfrm>
          <a:off x="376194" y="1769422"/>
          <a:ext cx="4596829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94193">
                  <a:extLst>
                    <a:ext uri="{9D8B030D-6E8A-4147-A177-3AD203B41FA5}">
                      <a16:colId xmlns:a16="http://schemas.microsoft.com/office/drawing/2014/main" val="2554942803"/>
                    </a:ext>
                  </a:extLst>
                </a:gridCol>
                <a:gridCol w="2802636">
                  <a:extLst>
                    <a:ext uri="{9D8B030D-6E8A-4147-A177-3AD203B41FA5}">
                      <a16:colId xmlns:a16="http://schemas.microsoft.com/office/drawing/2014/main" val="15424590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/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/>
                        <a:t>값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1135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Teacher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Qwen 2.5-VL-7B + </a:t>
                      </a:r>
                      <a:r>
                        <a:rPr lang="en-US" altLang="ko-KR" dirty="0" err="1"/>
                        <a:t>LoRA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37960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Student base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Qwen2.5-VL-3B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23432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learning_rate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2e-5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1261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num_epochs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3856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effective_batch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16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8354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total_steps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27,037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379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GPU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단일 </a:t>
                      </a:r>
                      <a:r>
                        <a:rPr lang="en-US" altLang="ko-KR" dirty="0"/>
                        <a:t>GPU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17803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9135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45F2F-C63F-27E9-9A3B-161836C22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1">
            <a:extLst>
              <a:ext uri="{FF2B5EF4-FFF2-40B4-BE49-F238E27FC236}">
                <a16:creationId xmlns:a16="http://schemas.microsoft.com/office/drawing/2014/main" id="{90AA9D84-96FD-62BB-9388-B2E3AAF52C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84711"/>
            <a:ext cx="12192000" cy="53638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dirty="0"/>
              <a:t>학습 설정</a:t>
            </a:r>
            <a:endParaRPr lang="en-US" altLang="ko-KR" sz="2000" dirty="0"/>
          </a:p>
          <a:p>
            <a:r>
              <a:rPr lang="ko-KR" altLang="en-US" sz="1800" dirty="0"/>
              <a:t>변형</a:t>
            </a:r>
            <a:endParaRPr lang="en-US" altLang="ko-KR" sz="1800" dirty="0"/>
          </a:p>
        </p:txBody>
      </p:sp>
      <p:pic>
        <p:nvPicPr>
          <p:cNvPr id="11" name="그림 10" descr="폰트, 텍스트, 로고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451DF0B-4160-6C92-4103-6E5609257E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2" t="10405" r="9077" b="12451"/>
          <a:stretch>
            <a:fillRect/>
          </a:stretch>
        </p:blipFill>
        <p:spPr>
          <a:xfrm>
            <a:off x="10442492" y="6249600"/>
            <a:ext cx="1749507" cy="608400"/>
          </a:xfrm>
          <a:prstGeom prst="rect">
            <a:avLst/>
          </a:prstGeom>
        </p:spPr>
      </p:pic>
      <p:pic>
        <p:nvPicPr>
          <p:cNvPr id="13" name="그림 12" descr="상징, 폰트, 텍스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8C99092-CDAF-4AE3-9678-9CA276444F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34" t="16457" r="8019" b="14080"/>
          <a:stretch>
            <a:fillRect/>
          </a:stretch>
        </p:blipFill>
        <p:spPr>
          <a:xfrm>
            <a:off x="0" y="6248543"/>
            <a:ext cx="1750978" cy="609456"/>
          </a:xfrm>
          <a:prstGeom prst="rect">
            <a:avLst/>
          </a:prstGeom>
        </p:spPr>
      </p:pic>
      <p:sp>
        <p:nvSpPr>
          <p:cNvPr id="19" name="제목 2">
            <a:extLst>
              <a:ext uri="{FF2B5EF4-FFF2-40B4-BE49-F238E27FC236}">
                <a16:creationId xmlns:a16="http://schemas.microsoft.com/office/drawing/2014/main" id="{9EE5954E-9C25-DAA5-6E20-B0B7D7925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84711"/>
          </a:xfrm>
          <a:gradFill flip="none" rotWithShape="1">
            <a:gsLst>
              <a:gs pos="0">
                <a:srgbClr val="B7B7B7"/>
              </a:gs>
              <a:gs pos="75000">
                <a:srgbClr val="B62552"/>
              </a:gs>
            </a:gsLst>
            <a:lin ang="10800000" scaled="1"/>
            <a:tileRect/>
          </a:gradFill>
        </p:spPr>
        <p:txBody>
          <a:bodyPr>
            <a:normAutofit/>
          </a:bodyPr>
          <a:lstStyle/>
          <a:p>
            <a:r>
              <a:rPr lang="ko-KR" altLang="en-US" sz="2400" dirty="0"/>
              <a:t>자율주행 특화 </a:t>
            </a:r>
            <a:r>
              <a:rPr lang="en-US" altLang="ko-KR" sz="2400" dirty="0"/>
              <a:t>VLM </a:t>
            </a:r>
            <a:r>
              <a:rPr lang="ko-KR" altLang="en-US" sz="2400" dirty="0"/>
              <a:t>증류 </a:t>
            </a:r>
            <a:r>
              <a:rPr lang="en-US" altLang="ko-KR" sz="2400" dirty="0"/>
              <a:t>+ </a:t>
            </a:r>
            <a:r>
              <a:rPr lang="ko-KR" altLang="en-US" sz="2400" dirty="0" err="1"/>
              <a:t>엣지</a:t>
            </a:r>
            <a:r>
              <a:rPr lang="ko-KR" altLang="en-US" sz="2400" dirty="0"/>
              <a:t> 최적화 통합 파이프라인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표 1">
                <a:extLst>
                  <a:ext uri="{FF2B5EF4-FFF2-40B4-BE49-F238E27FC236}">
                    <a16:creationId xmlns:a16="http://schemas.microsoft.com/office/drawing/2014/main" id="{3D4CD95D-AE84-3B94-440F-2EC50EF5248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79078402"/>
                  </p:ext>
                </p:extLst>
              </p:nvPr>
            </p:nvGraphicFramePr>
            <p:xfrm>
              <a:off x="376194" y="1769422"/>
              <a:ext cx="10969562" cy="251383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93800">
                      <a:extLst>
                        <a:ext uri="{9D8B030D-6E8A-4147-A177-3AD203B41FA5}">
                          <a16:colId xmlns:a16="http://schemas.microsoft.com/office/drawing/2014/main" val="2554942803"/>
                        </a:ext>
                      </a:extLst>
                    </a:gridCol>
                    <a:gridCol w="3003867">
                      <a:extLst>
                        <a:ext uri="{9D8B030D-6E8A-4147-A177-3AD203B41FA5}">
                          <a16:colId xmlns:a16="http://schemas.microsoft.com/office/drawing/2014/main" val="4189962050"/>
                        </a:ext>
                      </a:extLst>
                    </a:gridCol>
                    <a:gridCol w="1851343">
                      <a:extLst>
                        <a:ext uri="{9D8B030D-6E8A-4147-A177-3AD203B41FA5}">
                          <a16:colId xmlns:a16="http://schemas.microsoft.com/office/drawing/2014/main" val="3488326504"/>
                        </a:ext>
                      </a:extLst>
                    </a:gridCol>
                    <a:gridCol w="1171829">
                      <a:extLst>
                        <a:ext uri="{9D8B030D-6E8A-4147-A177-3AD203B41FA5}">
                          <a16:colId xmlns:a16="http://schemas.microsoft.com/office/drawing/2014/main" val="922189189"/>
                        </a:ext>
                      </a:extLst>
                    </a:gridCol>
                    <a:gridCol w="1541780">
                      <a:extLst>
                        <a:ext uri="{9D8B030D-6E8A-4147-A177-3AD203B41FA5}">
                          <a16:colId xmlns:a16="http://schemas.microsoft.com/office/drawing/2014/main" val="833947815"/>
                        </a:ext>
                      </a:extLst>
                    </a:gridCol>
                    <a:gridCol w="2206943">
                      <a:extLst>
                        <a:ext uri="{9D8B030D-6E8A-4147-A177-3AD203B41FA5}">
                          <a16:colId xmlns:a16="http://schemas.microsoft.com/office/drawing/2014/main" val="350629852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ko-KR" altLang="en-US" b="1" dirty="0"/>
                            <a:t>변형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𝒃𝒂𝒕𝒄𝒉</m:t>
                                </m:r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𝒔𝒊𝒛𝒆</m:t>
                                </m:r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 ∗</m:t>
                                </m:r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𝒈𝒓𝒂𝒅</m:t>
                                </m:r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𝒂𝒄𝒄𝒖𝒎</m:t>
                                </m:r>
                              </m:oMath>
                            </m:oMathPara>
                          </a14:m>
                          <a:endParaRPr lang="ko-KR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𝝀</m:t>
                                    </m:r>
                                  </m:e>
                                  <m:sub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𝒔𝒑𝒂𝒕𝒊𝒂𝒍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ko-KR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𝝀</m:t>
                                    </m:r>
                                  </m:e>
                                  <m:sub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𝒕𝒆𝒎𝒑𝒐𝒓𝒂𝒍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ko-KR" b="1" dirty="0"/>
                        </a:p>
                        <a:p>
                          <a:pPr latinLnBrk="1"/>
                          <a:endParaRPr lang="ko-KR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𝒕𝒆𝒑𝒎𝒐𝒓𝒂𝒍</m:t>
                                </m:r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ko-KR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𝒔𝒑𝒂𝒕𝒊𝒂𝒍</m:t>
                                </m:r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𝒍𝒂𝒚𝒆𝒓</m:t>
                                </m:r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𝒊𝒅𝒙</m:t>
                                </m:r>
                              </m:oMath>
                            </m:oMathPara>
                          </a14:m>
                          <a:endParaRPr lang="ko-KR" altLang="en-US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3113581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/>
                            <a:t>Full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2*8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1.0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1.0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23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7960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/>
                            <a:t>spatial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2*8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1.0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0.0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23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523432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/>
                            <a:t>temporal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2*8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0.0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1.0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23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1261224"/>
                      </a:ext>
                    </a:extLst>
                  </a:tr>
                  <a:tr h="361504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/>
                            <a:t>baseline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4*4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- (only task CE)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-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-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-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238568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 err="1"/>
                            <a:t>kd_only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2*8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-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-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-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-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1835441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표 1">
                <a:extLst>
                  <a:ext uri="{FF2B5EF4-FFF2-40B4-BE49-F238E27FC236}">
                    <a16:creationId xmlns:a16="http://schemas.microsoft.com/office/drawing/2014/main" id="{3D4CD95D-AE84-3B94-440F-2EC50EF5248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79078402"/>
                  </p:ext>
                </p:extLst>
              </p:nvPr>
            </p:nvGraphicFramePr>
            <p:xfrm>
              <a:off x="376194" y="1769422"/>
              <a:ext cx="10969562" cy="251383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93800">
                      <a:extLst>
                        <a:ext uri="{9D8B030D-6E8A-4147-A177-3AD203B41FA5}">
                          <a16:colId xmlns:a16="http://schemas.microsoft.com/office/drawing/2014/main" val="2554942803"/>
                        </a:ext>
                      </a:extLst>
                    </a:gridCol>
                    <a:gridCol w="3003867">
                      <a:extLst>
                        <a:ext uri="{9D8B030D-6E8A-4147-A177-3AD203B41FA5}">
                          <a16:colId xmlns:a16="http://schemas.microsoft.com/office/drawing/2014/main" val="4189962050"/>
                        </a:ext>
                      </a:extLst>
                    </a:gridCol>
                    <a:gridCol w="1851343">
                      <a:extLst>
                        <a:ext uri="{9D8B030D-6E8A-4147-A177-3AD203B41FA5}">
                          <a16:colId xmlns:a16="http://schemas.microsoft.com/office/drawing/2014/main" val="3488326504"/>
                        </a:ext>
                      </a:extLst>
                    </a:gridCol>
                    <a:gridCol w="1171829">
                      <a:extLst>
                        <a:ext uri="{9D8B030D-6E8A-4147-A177-3AD203B41FA5}">
                          <a16:colId xmlns:a16="http://schemas.microsoft.com/office/drawing/2014/main" val="922189189"/>
                        </a:ext>
                      </a:extLst>
                    </a:gridCol>
                    <a:gridCol w="1541780">
                      <a:extLst>
                        <a:ext uri="{9D8B030D-6E8A-4147-A177-3AD203B41FA5}">
                          <a16:colId xmlns:a16="http://schemas.microsoft.com/office/drawing/2014/main" val="833947815"/>
                        </a:ext>
                      </a:extLst>
                    </a:gridCol>
                    <a:gridCol w="2206943">
                      <a:extLst>
                        <a:ext uri="{9D8B030D-6E8A-4147-A177-3AD203B41FA5}">
                          <a16:colId xmlns:a16="http://schemas.microsoft.com/office/drawing/2014/main" val="3506298523"/>
                        </a:ext>
                      </a:extLst>
                    </a:gridCol>
                  </a:tblGrid>
                  <a:tr h="664718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ko-KR" altLang="en-US" b="1" dirty="0"/>
                            <a:t>변형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39959" t="-4587" r="-225963" b="-2926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226974" t="-4587" r="-266447" b="-2926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515026" t="-4587" r="-319689" b="-2926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469170" t="-4587" r="-143874" b="-2926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397790" t="-4587" r="-552" b="-2926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113581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/>
                            <a:t>Full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2*8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1.0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1.0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23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7960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/>
                            <a:t>spatial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2*8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1.0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0.0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23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523432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/>
                            <a:t>temporal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2*8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0.0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1.0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23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126122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/>
                            <a:t>baseline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4*4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- (only task CE)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-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-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-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238568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 err="1"/>
                            <a:t>kd_only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2*8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-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-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-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-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1835441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518952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2ADF7-2D8F-F0B2-53AE-5DCA90966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1">
            <a:extLst>
              <a:ext uri="{FF2B5EF4-FFF2-40B4-BE49-F238E27FC236}">
                <a16:creationId xmlns:a16="http://schemas.microsoft.com/office/drawing/2014/main" id="{CCC643DF-BBBF-EB78-165D-422D2482A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84711"/>
            <a:ext cx="12192000" cy="53638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dirty="0"/>
              <a:t>학습</a:t>
            </a:r>
            <a:endParaRPr lang="en-US" altLang="ko-KR" sz="2000" dirty="0"/>
          </a:p>
          <a:p>
            <a:r>
              <a:rPr lang="en-US" altLang="ko-KR" sz="1800" dirty="0"/>
              <a:t>Baseline(task CE only): 30</a:t>
            </a:r>
            <a:r>
              <a:rPr lang="ko-KR" altLang="en-US" sz="1800" dirty="0"/>
              <a:t>시간</a:t>
            </a:r>
            <a:endParaRPr lang="en-US" altLang="ko-KR" sz="1800" dirty="0"/>
          </a:p>
        </p:txBody>
      </p:sp>
      <p:pic>
        <p:nvPicPr>
          <p:cNvPr id="11" name="그림 10" descr="폰트, 텍스트, 로고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995DA5A-3243-EA81-448B-A7FECBA3A5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2" t="10405" r="9077" b="12451"/>
          <a:stretch>
            <a:fillRect/>
          </a:stretch>
        </p:blipFill>
        <p:spPr>
          <a:xfrm>
            <a:off x="10442492" y="6249600"/>
            <a:ext cx="1749507" cy="608400"/>
          </a:xfrm>
          <a:prstGeom prst="rect">
            <a:avLst/>
          </a:prstGeom>
        </p:spPr>
      </p:pic>
      <p:pic>
        <p:nvPicPr>
          <p:cNvPr id="13" name="그림 12" descr="상징, 폰트, 텍스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BEBFB4E-CF56-073C-A279-CF4F20A55D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34" t="16457" r="8019" b="14080"/>
          <a:stretch>
            <a:fillRect/>
          </a:stretch>
        </p:blipFill>
        <p:spPr>
          <a:xfrm>
            <a:off x="0" y="6248543"/>
            <a:ext cx="1750978" cy="609456"/>
          </a:xfrm>
          <a:prstGeom prst="rect">
            <a:avLst/>
          </a:prstGeom>
        </p:spPr>
      </p:pic>
      <p:sp>
        <p:nvSpPr>
          <p:cNvPr id="19" name="제목 2">
            <a:extLst>
              <a:ext uri="{FF2B5EF4-FFF2-40B4-BE49-F238E27FC236}">
                <a16:creationId xmlns:a16="http://schemas.microsoft.com/office/drawing/2014/main" id="{8658C6AF-CD58-1D02-2140-16B0D2A74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84711"/>
          </a:xfrm>
          <a:gradFill flip="none" rotWithShape="1">
            <a:gsLst>
              <a:gs pos="0">
                <a:srgbClr val="B7B7B7"/>
              </a:gs>
              <a:gs pos="75000">
                <a:srgbClr val="B62552"/>
              </a:gs>
            </a:gsLst>
            <a:lin ang="10800000" scaled="1"/>
            <a:tileRect/>
          </a:gradFill>
        </p:spPr>
        <p:txBody>
          <a:bodyPr>
            <a:normAutofit/>
          </a:bodyPr>
          <a:lstStyle/>
          <a:p>
            <a:r>
              <a:rPr lang="ko-KR" altLang="en-US" sz="2400" dirty="0"/>
              <a:t>자율주행 특화 </a:t>
            </a:r>
            <a:r>
              <a:rPr lang="en-US" altLang="ko-KR" sz="2400" dirty="0"/>
              <a:t>VLM </a:t>
            </a:r>
            <a:r>
              <a:rPr lang="ko-KR" altLang="en-US" sz="2400" dirty="0"/>
              <a:t>증류 </a:t>
            </a:r>
            <a:r>
              <a:rPr lang="en-US" altLang="ko-KR" sz="2400" dirty="0"/>
              <a:t>+ </a:t>
            </a:r>
            <a:r>
              <a:rPr lang="ko-KR" altLang="en-US" sz="2400" dirty="0" err="1"/>
              <a:t>엣지</a:t>
            </a:r>
            <a:r>
              <a:rPr lang="ko-KR" altLang="en-US" sz="2400"/>
              <a:t> 최적화 통합 파이프라인</a:t>
            </a:r>
            <a:endParaRPr lang="ko-KR" altLang="en-US" sz="2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3FE2A31-8FCB-5987-373A-A3633B15D9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602" y="1769422"/>
            <a:ext cx="6231549" cy="4284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582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E3E9C-54B0-C940-277A-58634ED8A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1">
            <a:extLst>
              <a:ext uri="{FF2B5EF4-FFF2-40B4-BE49-F238E27FC236}">
                <a16:creationId xmlns:a16="http://schemas.microsoft.com/office/drawing/2014/main" id="{3EF2501B-636D-4A7F-AB74-F5B9253FD3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84711"/>
            <a:ext cx="12192000" cy="53638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dirty="0"/>
              <a:t>학습</a:t>
            </a:r>
            <a:endParaRPr lang="en-US" altLang="ko-KR" sz="2000" dirty="0"/>
          </a:p>
          <a:p>
            <a:r>
              <a:rPr lang="en-US" altLang="ko-KR" sz="1800" dirty="0" err="1"/>
              <a:t>KD_only</a:t>
            </a:r>
            <a:r>
              <a:rPr lang="en-US" altLang="ko-KR" sz="1800" dirty="0"/>
              <a:t>(</a:t>
            </a:r>
            <a:r>
              <a:rPr lang="en-US" altLang="ko-KR" sz="1800" dirty="0" err="1"/>
              <a:t>L_task</a:t>
            </a:r>
            <a:r>
              <a:rPr lang="en-US" altLang="ko-KR" sz="1800" dirty="0"/>
              <a:t> + </a:t>
            </a:r>
            <a:r>
              <a:rPr lang="en-US" altLang="ko-KR" sz="1800" dirty="0" err="1"/>
              <a:t>L_kd</a:t>
            </a:r>
            <a:r>
              <a:rPr lang="en-US" altLang="ko-KR" sz="1800" dirty="0"/>
              <a:t>): 51.7</a:t>
            </a:r>
            <a:r>
              <a:rPr lang="ko-KR" altLang="en-US" sz="1800" dirty="0"/>
              <a:t>시간</a:t>
            </a:r>
            <a:endParaRPr lang="en-US" altLang="ko-KR" sz="1800" dirty="0"/>
          </a:p>
        </p:txBody>
      </p:sp>
      <p:pic>
        <p:nvPicPr>
          <p:cNvPr id="11" name="그림 10" descr="폰트, 텍스트, 로고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FE84145-2D90-5B45-D0AD-02CF1DBC5A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2" t="10405" r="9077" b="12451"/>
          <a:stretch>
            <a:fillRect/>
          </a:stretch>
        </p:blipFill>
        <p:spPr>
          <a:xfrm>
            <a:off x="10442492" y="6249600"/>
            <a:ext cx="1749507" cy="608400"/>
          </a:xfrm>
          <a:prstGeom prst="rect">
            <a:avLst/>
          </a:prstGeom>
        </p:spPr>
      </p:pic>
      <p:pic>
        <p:nvPicPr>
          <p:cNvPr id="13" name="그림 12" descr="상징, 폰트, 텍스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32C6424-1609-70C8-A1FC-21FD660F03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34" t="16457" r="8019" b="14080"/>
          <a:stretch>
            <a:fillRect/>
          </a:stretch>
        </p:blipFill>
        <p:spPr>
          <a:xfrm>
            <a:off x="0" y="6248543"/>
            <a:ext cx="1750978" cy="609456"/>
          </a:xfrm>
          <a:prstGeom prst="rect">
            <a:avLst/>
          </a:prstGeom>
        </p:spPr>
      </p:pic>
      <p:sp>
        <p:nvSpPr>
          <p:cNvPr id="19" name="제목 2">
            <a:extLst>
              <a:ext uri="{FF2B5EF4-FFF2-40B4-BE49-F238E27FC236}">
                <a16:creationId xmlns:a16="http://schemas.microsoft.com/office/drawing/2014/main" id="{20960DCF-E549-2BC7-A550-12D8DA4E1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84711"/>
          </a:xfrm>
          <a:gradFill flip="none" rotWithShape="1">
            <a:gsLst>
              <a:gs pos="0">
                <a:srgbClr val="B7B7B7"/>
              </a:gs>
              <a:gs pos="75000">
                <a:srgbClr val="B62552"/>
              </a:gs>
            </a:gsLst>
            <a:lin ang="10800000" scaled="1"/>
            <a:tileRect/>
          </a:gradFill>
        </p:spPr>
        <p:txBody>
          <a:bodyPr>
            <a:normAutofit/>
          </a:bodyPr>
          <a:lstStyle/>
          <a:p>
            <a:r>
              <a:rPr lang="ko-KR" altLang="en-US" sz="2400" dirty="0"/>
              <a:t>자율주행 특화 </a:t>
            </a:r>
            <a:r>
              <a:rPr lang="en-US" altLang="ko-KR" sz="2400" dirty="0"/>
              <a:t>VLM </a:t>
            </a:r>
            <a:r>
              <a:rPr lang="ko-KR" altLang="en-US" sz="2400" dirty="0"/>
              <a:t>증류 </a:t>
            </a:r>
            <a:r>
              <a:rPr lang="en-US" altLang="ko-KR" sz="2400" dirty="0"/>
              <a:t>+ </a:t>
            </a:r>
            <a:r>
              <a:rPr lang="ko-KR" altLang="en-US" sz="2400" dirty="0" err="1"/>
              <a:t>엣지</a:t>
            </a:r>
            <a:r>
              <a:rPr lang="ko-KR" altLang="en-US" sz="2400"/>
              <a:t> 최적화 통합 파이프라인</a:t>
            </a:r>
            <a:endParaRPr lang="ko-KR" altLang="en-US" sz="24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8BD9A0A-D483-6915-818E-81AF647488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944986"/>
            <a:ext cx="121920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392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74F61-8E49-CC1E-54F6-21349036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1">
            <a:extLst>
              <a:ext uri="{FF2B5EF4-FFF2-40B4-BE49-F238E27FC236}">
                <a16:creationId xmlns:a16="http://schemas.microsoft.com/office/drawing/2014/main" id="{93F839FE-2BC8-9A59-6190-1576BD0007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84711"/>
            <a:ext cx="12192000" cy="53638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dirty="0"/>
              <a:t>학습</a:t>
            </a:r>
            <a:endParaRPr lang="en-US" altLang="ko-KR" sz="2000" dirty="0"/>
          </a:p>
          <a:p>
            <a:r>
              <a:rPr lang="en-US" altLang="ko-KR" sz="1800" dirty="0"/>
              <a:t>Spatial only(</a:t>
            </a:r>
            <a:r>
              <a:rPr lang="en-US" altLang="ko-KR" sz="1800" dirty="0" err="1"/>
              <a:t>L_task</a:t>
            </a:r>
            <a:r>
              <a:rPr lang="en-US" altLang="ko-KR" sz="1800" dirty="0"/>
              <a:t> + </a:t>
            </a:r>
            <a:r>
              <a:rPr lang="en-US" altLang="ko-KR" sz="1800" dirty="0" err="1"/>
              <a:t>L_spatial</a:t>
            </a:r>
            <a:r>
              <a:rPr lang="en-US" altLang="ko-KR" sz="1800" dirty="0"/>
              <a:t>, </a:t>
            </a:r>
            <a:r>
              <a:rPr lang="en-US" altLang="ko-KR" sz="1800" dirty="0" err="1"/>
              <a:t>lambda_temporal</a:t>
            </a:r>
            <a:r>
              <a:rPr lang="en-US" altLang="ko-KR" sz="1800" dirty="0"/>
              <a:t>=0): 52</a:t>
            </a:r>
            <a:r>
              <a:rPr lang="ko-KR" altLang="en-US" sz="1800" dirty="0"/>
              <a:t>시간</a:t>
            </a:r>
            <a:endParaRPr lang="en-US" altLang="ko-KR" sz="1800" dirty="0"/>
          </a:p>
        </p:txBody>
      </p:sp>
      <p:pic>
        <p:nvPicPr>
          <p:cNvPr id="11" name="그림 10" descr="폰트, 텍스트, 로고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7832E07-C0CA-FC5D-4D9F-00FB9E47CE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2" t="10405" r="9077" b="12451"/>
          <a:stretch>
            <a:fillRect/>
          </a:stretch>
        </p:blipFill>
        <p:spPr>
          <a:xfrm>
            <a:off x="10442492" y="6249600"/>
            <a:ext cx="1749507" cy="608400"/>
          </a:xfrm>
          <a:prstGeom prst="rect">
            <a:avLst/>
          </a:prstGeom>
        </p:spPr>
      </p:pic>
      <p:pic>
        <p:nvPicPr>
          <p:cNvPr id="13" name="그림 12" descr="상징, 폰트, 텍스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16FB9AC-0365-AC45-449A-89154C9DE4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34" t="16457" r="8019" b="14080"/>
          <a:stretch>
            <a:fillRect/>
          </a:stretch>
        </p:blipFill>
        <p:spPr>
          <a:xfrm>
            <a:off x="0" y="6248543"/>
            <a:ext cx="1750978" cy="609456"/>
          </a:xfrm>
          <a:prstGeom prst="rect">
            <a:avLst/>
          </a:prstGeom>
        </p:spPr>
      </p:pic>
      <p:sp>
        <p:nvSpPr>
          <p:cNvPr id="19" name="제목 2">
            <a:extLst>
              <a:ext uri="{FF2B5EF4-FFF2-40B4-BE49-F238E27FC236}">
                <a16:creationId xmlns:a16="http://schemas.microsoft.com/office/drawing/2014/main" id="{7593504A-287E-42E8-8BC5-1F6FC1CB2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84711"/>
          </a:xfrm>
          <a:gradFill flip="none" rotWithShape="1">
            <a:gsLst>
              <a:gs pos="0">
                <a:srgbClr val="B7B7B7"/>
              </a:gs>
              <a:gs pos="75000">
                <a:srgbClr val="B62552"/>
              </a:gs>
            </a:gsLst>
            <a:lin ang="10800000" scaled="1"/>
            <a:tileRect/>
          </a:gradFill>
        </p:spPr>
        <p:txBody>
          <a:bodyPr>
            <a:normAutofit/>
          </a:bodyPr>
          <a:lstStyle/>
          <a:p>
            <a:r>
              <a:rPr lang="ko-KR" altLang="en-US" sz="2400" dirty="0"/>
              <a:t>자율주행 특화 </a:t>
            </a:r>
            <a:r>
              <a:rPr lang="en-US" altLang="ko-KR" sz="2400" dirty="0"/>
              <a:t>VLM </a:t>
            </a:r>
            <a:r>
              <a:rPr lang="ko-KR" altLang="en-US" sz="2400" dirty="0"/>
              <a:t>증류 </a:t>
            </a:r>
            <a:r>
              <a:rPr lang="en-US" altLang="ko-KR" sz="2400" dirty="0"/>
              <a:t>+ </a:t>
            </a:r>
            <a:r>
              <a:rPr lang="ko-KR" altLang="en-US" sz="2400" dirty="0" err="1"/>
              <a:t>엣지</a:t>
            </a:r>
            <a:r>
              <a:rPr lang="ko-KR" altLang="en-US" sz="2400"/>
              <a:t> 최적화 통합 파이프라인</a:t>
            </a:r>
            <a:endParaRPr lang="ko-KR" altLang="en-US" sz="2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6AB655D-D9FD-BB5E-69E1-6D81BE28B1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217" y="1769422"/>
            <a:ext cx="5977362" cy="4347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3121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F8CB2-710E-79AD-D695-97D4C7327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1">
            <a:extLst>
              <a:ext uri="{FF2B5EF4-FFF2-40B4-BE49-F238E27FC236}">
                <a16:creationId xmlns:a16="http://schemas.microsoft.com/office/drawing/2014/main" id="{EC04393E-7E19-9078-8A3E-F0B9BC2716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84711"/>
            <a:ext cx="12192000" cy="53638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dirty="0"/>
              <a:t>학습</a:t>
            </a:r>
            <a:endParaRPr lang="en-US" altLang="ko-KR" sz="2000" dirty="0"/>
          </a:p>
          <a:p>
            <a:r>
              <a:rPr lang="en-US" altLang="ko-KR" sz="1800" dirty="0"/>
              <a:t>Temporal only(</a:t>
            </a:r>
            <a:r>
              <a:rPr lang="en-US" altLang="ko-KR" sz="1800" dirty="0" err="1"/>
              <a:t>L_task</a:t>
            </a:r>
            <a:r>
              <a:rPr lang="en-US" altLang="ko-KR" sz="1800" dirty="0"/>
              <a:t> + </a:t>
            </a:r>
            <a:r>
              <a:rPr lang="en-US" altLang="ko-KR" sz="1800" dirty="0" err="1"/>
              <a:t>L_temporal</a:t>
            </a:r>
            <a:r>
              <a:rPr lang="en-US" altLang="ko-KR" sz="1800" dirty="0"/>
              <a:t>, </a:t>
            </a:r>
            <a:r>
              <a:rPr lang="en-US" altLang="ko-KR" sz="1800" dirty="0" err="1"/>
              <a:t>lambda_spatial</a:t>
            </a:r>
            <a:r>
              <a:rPr lang="en-US" altLang="ko-KR" sz="1800" dirty="0"/>
              <a:t>=0): 62.6</a:t>
            </a:r>
            <a:r>
              <a:rPr lang="ko-KR" altLang="en-US" sz="1800" dirty="0"/>
              <a:t>시간</a:t>
            </a:r>
            <a:endParaRPr lang="en-US" altLang="ko-KR" sz="1800" dirty="0"/>
          </a:p>
        </p:txBody>
      </p:sp>
      <p:pic>
        <p:nvPicPr>
          <p:cNvPr id="11" name="그림 10" descr="폰트, 텍스트, 로고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1C2E020-7E65-9146-3645-FDC7AA68D7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2" t="10405" r="9077" b="12451"/>
          <a:stretch>
            <a:fillRect/>
          </a:stretch>
        </p:blipFill>
        <p:spPr>
          <a:xfrm>
            <a:off x="10442492" y="6249600"/>
            <a:ext cx="1749507" cy="608400"/>
          </a:xfrm>
          <a:prstGeom prst="rect">
            <a:avLst/>
          </a:prstGeom>
        </p:spPr>
      </p:pic>
      <p:pic>
        <p:nvPicPr>
          <p:cNvPr id="13" name="그림 12" descr="상징, 폰트, 텍스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E30B7E7-C539-A7CF-1775-AD6A88C1D9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34" t="16457" r="8019" b="14080"/>
          <a:stretch>
            <a:fillRect/>
          </a:stretch>
        </p:blipFill>
        <p:spPr>
          <a:xfrm>
            <a:off x="0" y="6248543"/>
            <a:ext cx="1750978" cy="609456"/>
          </a:xfrm>
          <a:prstGeom prst="rect">
            <a:avLst/>
          </a:prstGeom>
        </p:spPr>
      </p:pic>
      <p:sp>
        <p:nvSpPr>
          <p:cNvPr id="19" name="제목 2">
            <a:extLst>
              <a:ext uri="{FF2B5EF4-FFF2-40B4-BE49-F238E27FC236}">
                <a16:creationId xmlns:a16="http://schemas.microsoft.com/office/drawing/2014/main" id="{5F0A2D5F-8D7F-206A-7495-838A90175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84711"/>
          </a:xfrm>
          <a:gradFill flip="none" rotWithShape="1">
            <a:gsLst>
              <a:gs pos="0">
                <a:srgbClr val="B7B7B7"/>
              </a:gs>
              <a:gs pos="75000">
                <a:srgbClr val="B62552"/>
              </a:gs>
            </a:gsLst>
            <a:lin ang="10800000" scaled="1"/>
            <a:tileRect/>
          </a:gradFill>
        </p:spPr>
        <p:txBody>
          <a:bodyPr>
            <a:normAutofit/>
          </a:bodyPr>
          <a:lstStyle/>
          <a:p>
            <a:r>
              <a:rPr lang="ko-KR" altLang="en-US" sz="2400" dirty="0"/>
              <a:t>자율주행 특화 </a:t>
            </a:r>
            <a:r>
              <a:rPr lang="en-US" altLang="ko-KR" sz="2400" dirty="0"/>
              <a:t>VLM </a:t>
            </a:r>
            <a:r>
              <a:rPr lang="ko-KR" altLang="en-US" sz="2400" dirty="0"/>
              <a:t>증류 </a:t>
            </a:r>
            <a:r>
              <a:rPr lang="en-US" altLang="ko-KR" sz="2400" dirty="0"/>
              <a:t>+ </a:t>
            </a:r>
            <a:r>
              <a:rPr lang="ko-KR" altLang="en-US" sz="2400" dirty="0" err="1"/>
              <a:t>엣지</a:t>
            </a:r>
            <a:r>
              <a:rPr lang="ko-KR" altLang="en-US" sz="2400"/>
              <a:t> 최적화 통합 파이프라인</a:t>
            </a:r>
            <a:endParaRPr lang="ko-KR" altLang="en-US" sz="24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14B231F-C798-6716-CF1B-D04C06F1F4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217" y="1768365"/>
            <a:ext cx="5977362" cy="4347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0850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6FE7C-8385-7E40-555B-F20F2BBC7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1">
            <a:extLst>
              <a:ext uri="{FF2B5EF4-FFF2-40B4-BE49-F238E27FC236}">
                <a16:creationId xmlns:a16="http://schemas.microsoft.com/office/drawing/2014/main" id="{8300B3E5-4968-C3E8-2305-2899C08298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84711"/>
            <a:ext cx="12192000" cy="53638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dirty="0"/>
              <a:t>학습</a:t>
            </a:r>
            <a:endParaRPr lang="en-US" altLang="ko-KR" sz="2000" dirty="0"/>
          </a:p>
          <a:p>
            <a:r>
              <a:rPr lang="en-US" altLang="ko-KR" sz="1800" dirty="0"/>
              <a:t>Full(</a:t>
            </a:r>
            <a:r>
              <a:rPr lang="en-US" altLang="ko-KR" sz="1800" dirty="0" err="1"/>
              <a:t>L_task</a:t>
            </a:r>
            <a:r>
              <a:rPr lang="en-US" altLang="ko-KR" sz="1800" dirty="0"/>
              <a:t> + </a:t>
            </a:r>
            <a:r>
              <a:rPr lang="en-US" altLang="ko-KR" sz="1800" dirty="0" err="1"/>
              <a:t>L_spatial</a:t>
            </a:r>
            <a:r>
              <a:rPr lang="en-US" altLang="ko-KR" sz="1800" dirty="0"/>
              <a:t> + </a:t>
            </a:r>
            <a:r>
              <a:rPr lang="en-US" altLang="ko-KR" sz="1800" dirty="0" err="1"/>
              <a:t>L_temporal</a:t>
            </a:r>
            <a:r>
              <a:rPr lang="en-US" altLang="ko-KR" sz="1800" dirty="0"/>
              <a:t>): 63.2</a:t>
            </a:r>
            <a:r>
              <a:rPr lang="ko-KR" altLang="en-US" sz="1800" dirty="0"/>
              <a:t>시간</a:t>
            </a:r>
            <a:endParaRPr lang="en-US" altLang="ko-KR" sz="1800" dirty="0"/>
          </a:p>
        </p:txBody>
      </p:sp>
      <p:pic>
        <p:nvPicPr>
          <p:cNvPr id="11" name="그림 10" descr="폰트, 텍스트, 로고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265C16A-4B6A-3B8D-9512-CCB99F9E17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2" t="10405" r="9077" b="12451"/>
          <a:stretch>
            <a:fillRect/>
          </a:stretch>
        </p:blipFill>
        <p:spPr>
          <a:xfrm>
            <a:off x="10442492" y="6249600"/>
            <a:ext cx="1749507" cy="608400"/>
          </a:xfrm>
          <a:prstGeom prst="rect">
            <a:avLst/>
          </a:prstGeom>
        </p:spPr>
      </p:pic>
      <p:pic>
        <p:nvPicPr>
          <p:cNvPr id="13" name="그림 12" descr="상징, 폰트, 텍스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9B3241E-D474-6FE7-5484-984B09D1B3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34" t="16457" r="8019" b="14080"/>
          <a:stretch>
            <a:fillRect/>
          </a:stretch>
        </p:blipFill>
        <p:spPr>
          <a:xfrm>
            <a:off x="0" y="6248543"/>
            <a:ext cx="1750978" cy="609456"/>
          </a:xfrm>
          <a:prstGeom prst="rect">
            <a:avLst/>
          </a:prstGeom>
        </p:spPr>
      </p:pic>
      <p:sp>
        <p:nvSpPr>
          <p:cNvPr id="19" name="제목 2">
            <a:extLst>
              <a:ext uri="{FF2B5EF4-FFF2-40B4-BE49-F238E27FC236}">
                <a16:creationId xmlns:a16="http://schemas.microsoft.com/office/drawing/2014/main" id="{D8802BD4-178E-CF54-1973-57719A97B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84711"/>
          </a:xfrm>
          <a:gradFill flip="none" rotWithShape="1">
            <a:gsLst>
              <a:gs pos="0">
                <a:srgbClr val="B7B7B7"/>
              </a:gs>
              <a:gs pos="75000">
                <a:srgbClr val="B62552"/>
              </a:gs>
            </a:gsLst>
            <a:lin ang="10800000" scaled="1"/>
            <a:tileRect/>
          </a:gradFill>
        </p:spPr>
        <p:txBody>
          <a:bodyPr>
            <a:normAutofit/>
          </a:bodyPr>
          <a:lstStyle/>
          <a:p>
            <a:r>
              <a:rPr lang="ko-KR" altLang="en-US" sz="2400" dirty="0"/>
              <a:t>자율주행 특화 </a:t>
            </a:r>
            <a:r>
              <a:rPr lang="en-US" altLang="ko-KR" sz="2400" dirty="0"/>
              <a:t>VLM </a:t>
            </a:r>
            <a:r>
              <a:rPr lang="ko-KR" altLang="en-US" sz="2400" dirty="0"/>
              <a:t>증류 </a:t>
            </a:r>
            <a:r>
              <a:rPr lang="en-US" altLang="ko-KR" sz="2400" dirty="0"/>
              <a:t>+ </a:t>
            </a:r>
            <a:r>
              <a:rPr lang="ko-KR" altLang="en-US" sz="2400" dirty="0" err="1"/>
              <a:t>엣지</a:t>
            </a:r>
            <a:r>
              <a:rPr lang="ko-KR" altLang="en-US" sz="2400"/>
              <a:t> 최적화 통합 파이프라인</a:t>
            </a:r>
            <a:endParaRPr lang="ko-KR" altLang="en-US" sz="24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A49CCE0-35CB-066E-1143-0627576DAF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217" y="1767308"/>
            <a:ext cx="6762266" cy="4347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6978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FEA17-0715-BACF-DF83-77A20331D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1">
            <a:extLst>
              <a:ext uri="{FF2B5EF4-FFF2-40B4-BE49-F238E27FC236}">
                <a16:creationId xmlns:a16="http://schemas.microsoft.com/office/drawing/2014/main" id="{C045A14C-B295-78E2-4214-C8D5C258D7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84711"/>
            <a:ext cx="12192000" cy="53638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dirty="0"/>
              <a:t>평가</a:t>
            </a:r>
            <a:endParaRPr lang="en-US" altLang="ko-KR" sz="2000" dirty="0"/>
          </a:p>
          <a:p>
            <a:r>
              <a:rPr lang="en-US" altLang="ko-KR" sz="1800" dirty="0" err="1"/>
              <a:t>NuScenes</a:t>
            </a:r>
            <a:r>
              <a:rPr lang="en-US" altLang="ko-KR" sz="1800" dirty="0"/>
              <a:t>-QA </a:t>
            </a:r>
            <a:r>
              <a:rPr lang="en-US" altLang="ko-KR" sz="1800" dirty="0" err="1"/>
              <a:t>val</a:t>
            </a:r>
            <a:r>
              <a:rPr lang="en-US" altLang="ko-KR" sz="1800" dirty="0"/>
              <a:t> </a:t>
            </a:r>
            <a:r>
              <a:rPr lang="ko-KR" altLang="en-US" sz="1800" dirty="0"/>
              <a:t>평가</a:t>
            </a:r>
            <a:r>
              <a:rPr lang="en-US" altLang="ko-KR" sz="1800" dirty="0"/>
              <a:t>(11,309 </a:t>
            </a:r>
            <a:r>
              <a:rPr lang="ko-KR" altLang="en-US" sz="1800" dirty="0"/>
              <a:t>샘플</a:t>
            </a:r>
            <a:r>
              <a:rPr lang="en-US" altLang="ko-KR" sz="1800" dirty="0"/>
              <a:t>, exact-match)</a:t>
            </a:r>
          </a:p>
        </p:txBody>
      </p:sp>
      <p:pic>
        <p:nvPicPr>
          <p:cNvPr id="11" name="그림 10" descr="폰트, 텍스트, 로고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6E1C7BD-7E89-D968-8FE0-F70FCB08D2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2" t="10405" r="9077" b="12451"/>
          <a:stretch>
            <a:fillRect/>
          </a:stretch>
        </p:blipFill>
        <p:spPr>
          <a:xfrm>
            <a:off x="10442492" y="6249600"/>
            <a:ext cx="1749507" cy="608400"/>
          </a:xfrm>
          <a:prstGeom prst="rect">
            <a:avLst/>
          </a:prstGeom>
        </p:spPr>
      </p:pic>
      <p:pic>
        <p:nvPicPr>
          <p:cNvPr id="13" name="그림 12" descr="상징, 폰트, 텍스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CCB3641-7A51-E9DF-9D98-23C07538EA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34" t="16457" r="8019" b="14080"/>
          <a:stretch>
            <a:fillRect/>
          </a:stretch>
        </p:blipFill>
        <p:spPr>
          <a:xfrm>
            <a:off x="0" y="6248543"/>
            <a:ext cx="1750978" cy="609456"/>
          </a:xfrm>
          <a:prstGeom prst="rect">
            <a:avLst/>
          </a:prstGeom>
        </p:spPr>
      </p:pic>
      <p:sp>
        <p:nvSpPr>
          <p:cNvPr id="19" name="제목 2">
            <a:extLst>
              <a:ext uri="{FF2B5EF4-FFF2-40B4-BE49-F238E27FC236}">
                <a16:creationId xmlns:a16="http://schemas.microsoft.com/office/drawing/2014/main" id="{5AE144D3-A941-877F-BB16-206AB2350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84711"/>
          </a:xfrm>
          <a:gradFill flip="none" rotWithShape="1">
            <a:gsLst>
              <a:gs pos="0">
                <a:srgbClr val="B7B7B7"/>
              </a:gs>
              <a:gs pos="75000">
                <a:srgbClr val="B62552"/>
              </a:gs>
            </a:gsLst>
            <a:lin ang="10800000" scaled="1"/>
            <a:tileRect/>
          </a:gradFill>
        </p:spPr>
        <p:txBody>
          <a:bodyPr>
            <a:normAutofit/>
          </a:bodyPr>
          <a:lstStyle/>
          <a:p>
            <a:r>
              <a:rPr lang="ko-KR" altLang="en-US" sz="2400" dirty="0"/>
              <a:t>자율주행 특화 </a:t>
            </a:r>
            <a:r>
              <a:rPr lang="en-US" altLang="ko-KR" sz="2400" dirty="0"/>
              <a:t>VLM </a:t>
            </a:r>
            <a:r>
              <a:rPr lang="ko-KR" altLang="en-US" sz="2400" dirty="0"/>
              <a:t>증류 </a:t>
            </a:r>
            <a:r>
              <a:rPr lang="en-US" altLang="ko-KR" sz="2400" dirty="0"/>
              <a:t>+ </a:t>
            </a:r>
            <a:r>
              <a:rPr lang="ko-KR" altLang="en-US" sz="2400" dirty="0" err="1"/>
              <a:t>엣지</a:t>
            </a:r>
            <a:r>
              <a:rPr lang="ko-KR" altLang="en-US" sz="2400"/>
              <a:t> 최적화 통합 파이프라인</a:t>
            </a:r>
            <a:endParaRPr lang="ko-KR" altLang="en-US" sz="2400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347E9B8-82A8-3702-603A-4BC68D1E4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7440853"/>
              </p:ext>
            </p:extLst>
          </p:nvPr>
        </p:nvGraphicFramePr>
        <p:xfrm>
          <a:off x="400909" y="1955342"/>
          <a:ext cx="8469887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70405">
                  <a:extLst>
                    <a:ext uri="{9D8B030D-6E8A-4147-A177-3AD203B41FA5}">
                      <a16:colId xmlns:a16="http://schemas.microsoft.com/office/drawing/2014/main" val="61253182"/>
                    </a:ext>
                  </a:extLst>
                </a:gridCol>
                <a:gridCol w="1006793">
                  <a:extLst>
                    <a:ext uri="{9D8B030D-6E8A-4147-A177-3AD203B41FA5}">
                      <a16:colId xmlns:a16="http://schemas.microsoft.com/office/drawing/2014/main" val="2304369691"/>
                    </a:ext>
                  </a:extLst>
                </a:gridCol>
                <a:gridCol w="1465517">
                  <a:extLst>
                    <a:ext uri="{9D8B030D-6E8A-4147-A177-3AD203B41FA5}">
                      <a16:colId xmlns:a16="http://schemas.microsoft.com/office/drawing/2014/main" val="423137503"/>
                    </a:ext>
                  </a:extLst>
                </a:gridCol>
                <a:gridCol w="1006793">
                  <a:extLst>
                    <a:ext uri="{9D8B030D-6E8A-4147-A177-3AD203B41FA5}">
                      <a16:colId xmlns:a16="http://schemas.microsoft.com/office/drawing/2014/main" val="2889619692"/>
                    </a:ext>
                  </a:extLst>
                </a:gridCol>
                <a:gridCol w="1006793">
                  <a:extLst>
                    <a:ext uri="{9D8B030D-6E8A-4147-A177-3AD203B41FA5}">
                      <a16:colId xmlns:a16="http://schemas.microsoft.com/office/drawing/2014/main" val="3745038822"/>
                    </a:ext>
                  </a:extLst>
                </a:gridCol>
                <a:gridCol w="1006793">
                  <a:extLst>
                    <a:ext uri="{9D8B030D-6E8A-4147-A177-3AD203B41FA5}">
                      <a16:colId xmlns:a16="http://schemas.microsoft.com/office/drawing/2014/main" val="2317693630"/>
                    </a:ext>
                  </a:extLst>
                </a:gridCol>
                <a:gridCol w="1006793">
                  <a:extLst>
                    <a:ext uri="{9D8B030D-6E8A-4147-A177-3AD203B41FA5}">
                      <a16:colId xmlns:a16="http://schemas.microsoft.com/office/drawing/2014/main" val="42510015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/>
                        <a:t>모델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/>
                        <a:t>전체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comparison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count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exist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object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status</a:t>
                      </a:r>
                      <a:endParaRPr lang="ko-KR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8153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Full (Ours)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51.69%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64.72%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7.46%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80.17%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43.87%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51.03%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5923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L_spatial</a:t>
                      </a:r>
                      <a:r>
                        <a:rPr lang="en-US" altLang="ko-KR" dirty="0"/>
                        <a:t> only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51.40%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63.09%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10.58%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81.38%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37.86%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52.79%</a:t>
                      </a:r>
                      <a:endParaRPr lang="ko-KR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6870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L_temporal_only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51.34%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64.44%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7.73%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81.17%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39.89%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52.24%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4827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Baseline (no KD)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50.30%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64.49%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7.96%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80.26%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36.67%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51.15%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07302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KD-only 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46.74%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63.88%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10.40%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67.68%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35.48%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51.09%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5095525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400909" y="4240382"/>
            <a:ext cx="8469887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95959"/>
                </a:solidFill>
              </a:rPr>
              <a:t>카테고리: </a:t>
            </a:r>
            <a:r>
              <a:rPr sz="1100" b="1">
                <a:solidFill>
                  <a:srgbClr val="404040"/>
                </a:solidFill>
              </a:rPr>
              <a:t>exist</a:t>
            </a:r>
            <a:r>
              <a:rPr sz="1100">
                <a:solidFill>
                  <a:srgbClr val="707070"/>
                </a:solidFill>
              </a:rPr>
              <a:t> 특정 대상의 존재 여부 (yes/no)</a:t>
            </a:r>
            <a:r>
              <a:rPr sz="1100">
                <a:solidFill>
                  <a:srgbClr val="A0A0A0"/>
                </a:solidFill>
              </a:rPr>
              <a:t>   ·   </a:t>
            </a:r>
            <a:r>
              <a:rPr sz="1100" b="1">
                <a:solidFill>
                  <a:srgbClr val="404040"/>
                </a:solidFill>
              </a:rPr>
              <a:t>count</a:t>
            </a:r>
            <a:r>
              <a:rPr sz="1100">
                <a:solidFill>
                  <a:srgbClr val="707070"/>
                </a:solidFill>
              </a:rPr>
              <a:t> 대상 개수 세기</a:t>
            </a:r>
            <a:r>
              <a:rPr sz="1100">
                <a:solidFill>
                  <a:srgbClr val="A0A0A0"/>
                </a:solidFill>
              </a:rPr>
              <a:t>   ·   </a:t>
            </a:r>
            <a:r>
              <a:rPr sz="1100" b="1">
                <a:solidFill>
                  <a:srgbClr val="404040"/>
                </a:solidFill>
              </a:rPr>
              <a:t>object</a:t>
            </a:r>
            <a:r>
              <a:rPr sz="1100">
                <a:solidFill>
                  <a:srgbClr val="707070"/>
                </a:solidFill>
              </a:rPr>
              <a:t> 지목된 대상이 무엇인지 식별</a:t>
            </a:r>
            <a:r>
              <a:rPr sz="1100">
                <a:solidFill>
                  <a:srgbClr val="A0A0A0"/>
                </a:solidFill>
              </a:rPr>
              <a:t>   ·   </a:t>
            </a:r>
            <a:r>
              <a:rPr sz="1100" b="1">
                <a:solidFill>
                  <a:srgbClr val="404040"/>
                </a:solidFill>
              </a:rPr>
              <a:t>status</a:t>
            </a:r>
            <a:r>
              <a:rPr sz="1100">
                <a:solidFill>
                  <a:srgbClr val="707070"/>
                </a:solidFill>
              </a:rPr>
              <a:t> 대상의 상태 (이동 중/정차 등)</a:t>
            </a:r>
            <a:r>
              <a:rPr sz="1100">
                <a:solidFill>
                  <a:srgbClr val="A0A0A0"/>
                </a:solidFill>
              </a:rPr>
              <a:t>   ·   </a:t>
            </a:r>
            <a:r>
              <a:rPr sz="1100" b="1">
                <a:solidFill>
                  <a:srgbClr val="404040"/>
                </a:solidFill>
              </a:rPr>
              <a:t>comparison</a:t>
            </a:r>
            <a:r>
              <a:rPr sz="1100">
                <a:solidFill>
                  <a:srgbClr val="707070"/>
                </a:solidFill>
              </a:rPr>
              <a:t> 두 대상 간 상대적 위치·관계 비교</a:t>
            </a:r>
          </a:p>
        </p:txBody>
      </p:sp>
    </p:spTree>
    <p:extLst>
      <p:ext uri="{BB962C8B-B14F-4D97-AF65-F5344CB8AC3E}">
        <p14:creationId xmlns:p14="http://schemas.microsoft.com/office/powerpoint/2010/main" val="27425334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7967F-289D-0767-814C-E61576457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1">
            <a:extLst>
              <a:ext uri="{FF2B5EF4-FFF2-40B4-BE49-F238E27FC236}">
                <a16:creationId xmlns:a16="http://schemas.microsoft.com/office/drawing/2014/main" id="{16F40918-3E33-AF33-F2D5-093B2BE1CF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84711"/>
            <a:ext cx="12192000" cy="53638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/>
              <a:t>CODA-LM</a:t>
            </a:r>
            <a:endParaRPr lang="ko-KR" altLang="en-US" sz="2000" dirty="0"/>
          </a:p>
          <a:p>
            <a:pPr>
              <a:lnSpc>
                <a:spcPct val="150000"/>
              </a:lnSpc>
            </a:pPr>
            <a:r>
              <a:rPr lang="ko-KR" altLang="en-US" sz="1800" dirty="0"/>
              <a:t>공식 채점이 </a:t>
            </a:r>
            <a:r>
              <a:rPr lang="en-US" altLang="ko-KR" sz="1800" dirty="0"/>
              <a:t>GPT-4o judge(OpenAI API) </a:t>
            </a:r>
            <a:r>
              <a:rPr lang="ko-KR" altLang="en-US" sz="1800" dirty="0"/>
              <a:t>기반 </a:t>
            </a:r>
            <a:r>
              <a:rPr lang="en-US" altLang="ko-KR" sz="1800" dirty="0"/>
              <a:t>– </a:t>
            </a:r>
            <a:r>
              <a:rPr lang="ko-KR" altLang="en-US" sz="1800" dirty="0"/>
              <a:t>로컬</a:t>
            </a:r>
            <a:r>
              <a:rPr lang="en-US" altLang="ko-KR" sz="1800" dirty="0"/>
              <a:t>/</a:t>
            </a:r>
            <a:r>
              <a:rPr lang="ko-KR" altLang="en-US" sz="1800" dirty="0"/>
              <a:t>무료 대안 </a:t>
            </a:r>
            <a:r>
              <a:rPr lang="ko-KR" altLang="en-US" sz="1800" dirty="0" err="1"/>
              <a:t>미제공</a:t>
            </a:r>
            <a:endParaRPr lang="en-US" altLang="ko-KR" sz="1800" dirty="0"/>
          </a:p>
          <a:p>
            <a:pPr>
              <a:lnSpc>
                <a:spcPct val="150000"/>
              </a:lnSpc>
            </a:pPr>
            <a:r>
              <a:rPr lang="ko-KR" altLang="en-US" sz="1800" dirty="0"/>
              <a:t>표준 </a:t>
            </a:r>
            <a:r>
              <a:rPr lang="en-US" altLang="ko-KR" sz="1800" dirty="0"/>
              <a:t>API </a:t>
            </a:r>
            <a:r>
              <a:rPr lang="ko-KR" altLang="en-US" sz="1800" dirty="0"/>
              <a:t>가격 기준 추정 비용 </a:t>
            </a:r>
            <a:endParaRPr lang="en-US" altLang="ko-KR" sz="1800" dirty="0"/>
          </a:p>
        </p:txBody>
      </p:sp>
      <p:pic>
        <p:nvPicPr>
          <p:cNvPr id="11" name="그림 10" descr="폰트, 텍스트, 로고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C5DCBC2-8F6F-FB00-DC0E-495EB4A555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2" t="10405" r="9077" b="12451"/>
          <a:stretch>
            <a:fillRect/>
          </a:stretch>
        </p:blipFill>
        <p:spPr>
          <a:xfrm>
            <a:off x="10442492" y="6249600"/>
            <a:ext cx="1749507" cy="608400"/>
          </a:xfrm>
          <a:prstGeom prst="rect">
            <a:avLst/>
          </a:prstGeom>
        </p:spPr>
      </p:pic>
      <p:pic>
        <p:nvPicPr>
          <p:cNvPr id="13" name="그림 12" descr="상징, 폰트, 텍스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109445E-E612-A652-4FD3-FD0364F0FE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34" t="16457" r="8019" b="14080"/>
          <a:stretch>
            <a:fillRect/>
          </a:stretch>
        </p:blipFill>
        <p:spPr>
          <a:xfrm>
            <a:off x="0" y="6248543"/>
            <a:ext cx="1750978" cy="609456"/>
          </a:xfrm>
          <a:prstGeom prst="rect">
            <a:avLst/>
          </a:prstGeom>
        </p:spPr>
      </p:pic>
      <p:sp>
        <p:nvSpPr>
          <p:cNvPr id="19" name="제목 2">
            <a:extLst>
              <a:ext uri="{FF2B5EF4-FFF2-40B4-BE49-F238E27FC236}">
                <a16:creationId xmlns:a16="http://schemas.microsoft.com/office/drawing/2014/main" id="{26539D4F-D579-B9DE-71F4-981E6D6B9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84711"/>
          </a:xfrm>
          <a:gradFill flip="none" rotWithShape="1">
            <a:gsLst>
              <a:gs pos="0">
                <a:srgbClr val="B7B7B7"/>
              </a:gs>
              <a:gs pos="75000">
                <a:srgbClr val="B62552"/>
              </a:gs>
            </a:gsLst>
            <a:lin ang="10800000" scaled="1"/>
            <a:tileRect/>
          </a:gradFill>
        </p:spPr>
        <p:txBody>
          <a:bodyPr>
            <a:normAutofit/>
          </a:bodyPr>
          <a:lstStyle/>
          <a:p>
            <a:r>
              <a:rPr lang="ko-KR" altLang="en-US" sz="2400" dirty="0"/>
              <a:t>자율주행 특화 </a:t>
            </a:r>
            <a:r>
              <a:rPr lang="en-US" altLang="ko-KR" sz="2400" dirty="0"/>
              <a:t>VLM </a:t>
            </a:r>
            <a:r>
              <a:rPr lang="ko-KR" altLang="en-US" sz="2400" dirty="0"/>
              <a:t>증류 </a:t>
            </a:r>
            <a:r>
              <a:rPr lang="en-US" altLang="ko-KR" sz="2400" dirty="0"/>
              <a:t>+ </a:t>
            </a:r>
            <a:r>
              <a:rPr lang="ko-KR" altLang="en-US" sz="2400" dirty="0" err="1"/>
              <a:t>엣지</a:t>
            </a:r>
            <a:r>
              <a:rPr lang="ko-KR" altLang="en-US" sz="2400"/>
              <a:t> 최적화 통합 파이프라인</a:t>
            </a:r>
            <a:endParaRPr lang="ko-KR" altLang="en-US" sz="2400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A0AD55E-4CCF-1D18-F16C-3693839450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9919698"/>
              </p:ext>
            </p:extLst>
          </p:nvPr>
        </p:nvGraphicFramePr>
        <p:xfrm>
          <a:off x="351482" y="2610230"/>
          <a:ext cx="3468053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9643">
                  <a:extLst>
                    <a:ext uri="{9D8B030D-6E8A-4147-A177-3AD203B41FA5}">
                      <a16:colId xmlns:a16="http://schemas.microsoft.com/office/drawing/2014/main" val="61253182"/>
                    </a:ext>
                  </a:extLst>
                </a:gridCol>
                <a:gridCol w="1259205">
                  <a:extLst>
                    <a:ext uri="{9D8B030D-6E8A-4147-A177-3AD203B41FA5}">
                      <a16:colId xmlns:a16="http://schemas.microsoft.com/office/drawing/2014/main" val="2304369691"/>
                    </a:ext>
                  </a:extLst>
                </a:gridCol>
                <a:gridCol w="1259205">
                  <a:extLst>
                    <a:ext uri="{9D8B030D-6E8A-4147-A177-3AD203B41FA5}">
                      <a16:colId xmlns:a16="http://schemas.microsoft.com/office/drawing/2014/main" val="4231375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/>
                        <a:t>스플릿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/>
                        <a:t>이미지 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/>
                        <a:t>예상 비용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8153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/>
                        <a:t>Mini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/>
                        <a:t>50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/>
                        <a:t>~$4</a:t>
                      </a:r>
                      <a:endParaRPr lang="ko-KR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5923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/>
                        <a:t>Test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/>
                        <a:t>500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/>
                        <a:t>~$40</a:t>
                      </a:r>
                      <a:endParaRPr lang="ko-KR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6870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/>
                        <a:t>Val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/>
                        <a:t>4.384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/>
                        <a:t>~$350</a:t>
                      </a:r>
                      <a:endParaRPr lang="ko-KR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4827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94023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44911-64A5-3CB7-5630-AA193262E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1">
            <a:extLst>
              <a:ext uri="{FF2B5EF4-FFF2-40B4-BE49-F238E27FC236}">
                <a16:creationId xmlns:a16="http://schemas.microsoft.com/office/drawing/2014/main" id="{00A4B389-B53B-31EF-BC52-CDF9FC945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84711"/>
            <a:ext cx="12192000" cy="53638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dirty="0"/>
              <a:t>차주 계획</a:t>
            </a:r>
            <a:endParaRPr lang="en-US" altLang="ko-KR" sz="2000" dirty="0"/>
          </a:p>
          <a:p>
            <a:pPr>
              <a:lnSpc>
                <a:spcPct val="150000"/>
              </a:lnSpc>
            </a:pPr>
            <a:r>
              <a:rPr lang="ko-KR" altLang="en-US" sz="1800" dirty="0"/>
              <a:t>종합시험 준비</a:t>
            </a:r>
            <a:endParaRPr lang="en-US" altLang="ko-KR" sz="1800" dirty="0"/>
          </a:p>
          <a:p>
            <a:pPr>
              <a:lnSpc>
                <a:spcPct val="150000"/>
              </a:lnSpc>
            </a:pPr>
            <a:r>
              <a:rPr lang="ko-KR" altLang="en-US" sz="1800" dirty="0"/>
              <a:t>산학프로젝트 챌린지 보고서 작성</a:t>
            </a:r>
            <a:endParaRPr lang="en-US" altLang="ko-KR" sz="1800" dirty="0"/>
          </a:p>
          <a:p>
            <a:pPr>
              <a:lnSpc>
                <a:spcPct val="150000"/>
              </a:lnSpc>
            </a:pPr>
            <a:r>
              <a:rPr lang="en-US" altLang="ko-KR" sz="1800" dirty="0"/>
              <a:t>CODA-LM </a:t>
            </a:r>
            <a:r>
              <a:rPr lang="ko-KR" altLang="en-US" sz="1800" dirty="0"/>
              <a:t>평가 </a:t>
            </a:r>
            <a:r>
              <a:rPr lang="en-US" altLang="ko-KR" sz="1800" dirty="0"/>
              <a:t>or </a:t>
            </a:r>
            <a:r>
              <a:rPr lang="ko-KR" altLang="en-US" sz="1800" dirty="0"/>
              <a:t>양자화</a:t>
            </a:r>
            <a:r>
              <a:rPr lang="en-US" altLang="ko-KR" sz="1800" dirty="0"/>
              <a:t>+</a:t>
            </a:r>
            <a:r>
              <a:rPr lang="ko-KR" altLang="en-US" sz="1800" dirty="0"/>
              <a:t>배포</a:t>
            </a:r>
            <a:endParaRPr lang="en-US" altLang="ko-KR" sz="1800" dirty="0"/>
          </a:p>
        </p:txBody>
      </p:sp>
      <p:pic>
        <p:nvPicPr>
          <p:cNvPr id="11" name="그림 10" descr="폰트, 텍스트, 로고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C54CD3D-2D33-A930-EB8F-72D2A2E287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2" t="10405" r="9077" b="12451"/>
          <a:stretch>
            <a:fillRect/>
          </a:stretch>
        </p:blipFill>
        <p:spPr>
          <a:xfrm>
            <a:off x="10442492" y="6249600"/>
            <a:ext cx="1749507" cy="608400"/>
          </a:xfrm>
          <a:prstGeom prst="rect">
            <a:avLst/>
          </a:prstGeom>
        </p:spPr>
      </p:pic>
      <p:pic>
        <p:nvPicPr>
          <p:cNvPr id="13" name="그림 12" descr="상징, 폰트, 텍스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0DFD1D9-8D4B-541D-1DA5-AEBEFE6761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34" t="16457" r="8019" b="14080"/>
          <a:stretch>
            <a:fillRect/>
          </a:stretch>
        </p:blipFill>
        <p:spPr>
          <a:xfrm>
            <a:off x="0" y="6248543"/>
            <a:ext cx="1750978" cy="609456"/>
          </a:xfrm>
          <a:prstGeom prst="rect">
            <a:avLst/>
          </a:prstGeom>
        </p:spPr>
      </p:pic>
      <p:sp>
        <p:nvSpPr>
          <p:cNvPr id="19" name="제목 2">
            <a:extLst>
              <a:ext uri="{FF2B5EF4-FFF2-40B4-BE49-F238E27FC236}">
                <a16:creationId xmlns:a16="http://schemas.microsoft.com/office/drawing/2014/main" id="{63370932-CC07-6EDE-757E-8C7CE9137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84711"/>
          </a:xfrm>
          <a:gradFill flip="none" rotWithShape="1">
            <a:gsLst>
              <a:gs pos="0">
                <a:srgbClr val="B7B7B7"/>
              </a:gs>
              <a:gs pos="75000">
                <a:srgbClr val="B62552"/>
              </a:gs>
            </a:gsLst>
            <a:lin ang="10800000" scaled="1"/>
            <a:tileRect/>
          </a:gradFill>
        </p:spPr>
        <p:txBody>
          <a:bodyPr>
            <a:normAutofit/>
          </a:bodyPr>
          <a:lstStyle/>
          <a:p>
            <a:r>
              <a:rPr lang="ko-KR" altLang="en-US" sz="2400" dirty="0"/>
              <a:t>자율주행 특화 </a:t>
            </a:r>
            <a:r>
              <a:rPr lang="en-US" altLang="ko-KR" sz="2400" dirty="0"/>
              <a:t>VLM </a:t>
            </a:r>
            <a:r>
              <a:rPr lang="ko-KR" altLang="en-US" sz="2400" dirty="0"/>
              <a:t>증류 </a:t>
            </a:r>
            <a:r>
              <a:rPr lang="en-US" altLang="ko-KR" sz="2400" dirty="0"/>
              <a:t>+ </a:t>
            </a:r>
            <a:r>
              <a:rPr lang="ko-KR" altLang="en-US" sz="2400" dirty="0" err="1"/>
              <a:t>엣지</a:t>
            </a:r>
            <a:r>
              <a:rPr lang="ko-KR" altLang="en-US" sz="2400"/>
              <a:t> 최적화 통합 파이프라인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3682974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971AE-E1AB-2E36-8D1F-44240B965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BBC0B60-C152-7229-A768-B916A211F08F}"/>
              </a:ext>
            </a:extLst>
          </p:cNvPr>
          <p:cNvSpPr txBox="1"/>
          <p:nvPr/>
        </p:nvSpPr>
        <p:spPr>
          <a:xfrm>
            <a:off x="4960361" y="3136612"/>
            <a:ext cx="22712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감사합니다</a:t>
            </a:r>
            <a:endParaRPr lang="en-US" altLang="ko-KR" sz="3200" b="1" dirty="0"/>
          </a:p>
        </p:txBody>
      </p:sp>
      <p:pic>
        <p:nvPicPr>
          <p:cNvPr id="2" name="그림 1" descr="상징, 폰트, 텍스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B919BB0-7149-CB72-F6CA-1CFCA6E28F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34" t="16457" r="8019" b="14080"/>
          <a:stretch>
            <a:fillRect/>
          </a:stretch>
        </p:blipFill>
        <p:spPr>
          <a:xfrm>
            <a:off x="0" y="6248543"/>
            <a:ext cx="1750978" cy="609456"/>
          </a:xfrm>
          <a:prstGeom prst="rect">
            <a:avLst/>
          </a:prstGeom>
        </p:spPr>
      </p:pic>
      <p:pic>
        <p:nvPicPr>
          <p:cNvPr id="3" name="그림 2" descr="폰트, 텍스트, 로고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2916505-BFBE-A2E3-E45B-AB56292EB4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2" t="10405" r="9077" b="12451"/>
          <a:stretch>
            <a:fillRect/>
          </a:stretch>
        </p:blipFill>
        <p:spPr>
          <a:xfrm>
            <a:off x="10442492" y="6249600"/>
            <a:ext cx="1749507" cy="60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7872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17165</TotalTime>
  <Words>733</Words>
  <Application>Microsoft Office PowerPoint</Application>
  <PresentationFormat>와이드스크린</PresentationFormat>
  <Paragraphs>174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맑은 고딕</vt:lpstr>
      <vt:lpstr>Arial</vt:lpstr>
      <vt:lpstr>Cambria Math</vt:lpstr>
      <vt:lpstr>Office 테마</vt:lpstr>
      <vt:lpstr>PowerPoint 프레젠테이션</vt:lpstr>
      <vt:lpstr>자율주행 특화 VLM 증류 + 엣지 최적화 통합 파이프라인</vt:lpstr>
      <vt:lpstr>자율주행 특화 VLM 증류 + 엣지 최적화 통합 파이프라인</vt:lpstr>
      <vt:lpstr>자율주행 특화 VLM 증류 + 엣지 최적화 통합 파이프라인</vt:lpstr>
      <vt:lpstr>자율주행 특화 VLM 증류 + 엣지 최적화 통합 파이프라인</vt:lpstr>
      <vt:lpstr>자율주행 특화 VLM 증류 + 엣지 최적화 통합 파이프라인</vt:lpstr>
      <vt:lpstr>자율주행 특화 VLM 증류 + 엣지 최적화 통합 파이프라인</vt:lpstr>
      <vt:lpstr>자율주행 특화 VLM 증류 + 엣지 최적화 통합 파이프라인</vt:lpstr>
      <vt:lpstr>자율주행 특화 VLM 증류 + 엣지 최적화 통합 파이프라인</vt:lpstr>
      <vt:lpstr>자율주행 특화 VLM 증류 + 엣지 최적화 통합 파이프라인</vt:lpstr>
      <vt:lpstr>자율주행 특화 VLM 증류 + 엣지 최적화 통합 파이프라인</vt:lpstr>
      <vt:lpstr>자율주행 특화 VLM 증류 + 엣지 최적화 통합 파이프라인</vt:lpstr>
      <vt:lpstr>자율주행 특화 VLM 증류 + 엣지 최적화 통합 파이프라인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최준</dc:creator>
  <cp:lastModifiedBy>최 준</cp:lastModifiedBy>
  <cp:revision>567</cp:revision>
  <dcterms:created xsi:type="dcterms:W3CDTF">2025-02-06T05:24:14Z</dcterms:created>
  <dcterms:modified xsi:type="dcterms:W3CDTF">2026-08-13T13:49:14Z</dcterms:modified>
</cp:coreProperties>
</file>